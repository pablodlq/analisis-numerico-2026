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x="18288000" cy="10287000"/>
  <p:notesSz cx="6858000" cy="9144000"/>
  <p:embeddedFontLst>
    <p:embeddedFont>
      <p:font typeface="Aptos" charset="1" panose="020B0004020202020204"/>
      <p:regular r:id="rId16"/>
    </p:embeddedFont>
    <p:embeddedFont>
      <p:font typeface="Aptos Bold" charset="1" panose="020B0004020202020204"/>
      <p:regular r:id="rId1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fonts/font16.fntdata" Type="http://schemas.openxmlformats.org/officeDocument/2006/relationships/font"/><Relationship Id="rId17" Target="fonts/font17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508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2286000" y="309521"/>
            <a:ext cx="13716000" cy="4447918"/>
            <a:chOff x="0" y="0"/>
            <a:chExt cx="18288000" cy="593055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8288000" cy="5930557"/>
            </a:xfrm>
            <a:custGeom>
              <a:avLst/>
              <a:gdLst/>
              <a:ahLst/>
              <a:cxnLst/>
              <a:rect r="r" b="b" t="t" l="l"/>
              <a:pathLst>
                <a:path h="5930557" w="18288000">
                  <a:moveTo>
                    <a:pt x="0" y="0"/>
                  </a:moveTo>
                  <a:lnTo>
                    <a:pt x="18288000" y="0"/>
                  </a:lnTo>
                  <a:lnTo>
                    <a:pt x="18288000" y="5930557"/>
                  </a:lnTo>
                  <a:lnTo>
                    <a:pt x="0" y="5930557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9826" r="0" b="-345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95250"/>
              <a:ext cx="18288000" cy="5835307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ctr">
                <a:lnSpc>
                  <a:spcPts val="8747"/>
                </a:lnSpc>
              </a:pPr>
              <a:r>
                <a:rPr lang="en-US" sz="8099">
                  <a:solidFill>
                    <a:srgbClr val="F3F0DF"/>
                  </a:solidFill>
                  <a:latin typeface="Aptos"/>
                  <a:ea typeface="Aptos"/>
                  <a:cs typeface="Aptos"/>
                  <a:sym typeface="Aptos"/>
                </a:rPr>
                <a:t>Trabajo práctico 2:</a:t>
              </a:r>
            </a:p>
            <a:p>
              <a:pPr algn="ctr">
                <a:lnSpc>
                  <a:spcPts val="7776"/>
                </a:lnSpc>
              </a:pPr>
              <a:r>
                <a:rPr lang="en-US" sz="7200">
                  <a:solidFill>
                    <a:srgbClr val="F3F0DF"/>
                  </a:solidFill>
                  <a:latin typeface="Aptos"/>
                  <a:ea typeface="Aptos"/>
                  <a:cs typeface="Aptos"/>
                  <a:sym typeface="Aptos"/>
                </a:rPr>
                <a:t>Registro de Imágenes y Análisis de Fase en el Dominio de la Frecuencia</a:t>
              </a: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028700" y="6373749"/>
            <a:ext cx="15512478" cy="28845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32"/>
              </a:lnSpc>
            </a:pPr>
            <a:r>
              <a:rPr lang="en-US" sz="3600">
                <a:solidFill>
                  <a:srgbClr val="F3F0DF"/>
                </a:solidFill>
                <a:latin typeface="Aptos"/>
                <a:ea typeface="Aptos"/>
                <a:cs typeface="Aptos"/>
                <a:sym typeface="Aptos"/>
              </a:rPr>
              <a:t>Asignatura: Análisis Numérico</a:t>
            </a:r>
          </a:p>
          <a:p>
            <a:pPr algn="l">
              <a:lnSpc>
                <a:spcPts val="5832"/>
              </a:lnSpc>
            </a:pPr>
            <a:r>
              <a:rPr lang="en-US" sz="3600">
                <a:solidFill>
                  <a:srgbClr val="F3F0DF"/>
                </a:solidFill>
                <a:latin typeface="Aptos"/>
                <a:ea typeface="Aptos"/>
                <a:cs typeface="Aptos"/>
                <a:sym typeface="Aptos"/>
              </a:rPr>
              <a:t>Integrantes: Mauricio Acosta, Federico Bleuel, Marcos Bude, Pablo Dellacqua</a:t>
            </a:r>
          </a:p>
          <a:p>
            <a:pPr algn="l">
              <a:lnSpc>
                <a:spcPts val="5832"/>
              </a:lnSpc>
            </a:pPr>
          </a:p>
          <a:p>
            <a:pPr algn="l">
              <a:lnSpc>
                <a:spcPts val="5832"/>
              </a:lnSpc>
            </a:pPr>
            <a:r>
              <a:rPr lang="en-US" sz="3600">
                <a:solidFill>
                  <a:srgbClr val="F3F0DF"/>
                </a:solidFill>
                <a:latin typeface="Aptos"/>
                <a:ea typeface="Aptos"/>
                <a:cs typeface="Aptos"/>
                <a:sym typeface="Aptos"/>
              </a:rPr>
              <a:t>UTN – FRSF | 2026</a:t>
            </a:r>
          </a:p>
        </p:txBody>
      </p:sp>
      <p:sp>
        <p:nvSpPr>
          <p:cNvPr name="AutoShape 6" id="6"/>
          <p:cNvSpPr/>
          <p:nvPr/>
        </p:nvSpPr>
        <p:spPr>
          <a:xfrm>
            <a:off x="5897880" y="5143500"/>
            <a:ext cx="6492240" cy="0"/>
          </a:xfrm>
          <a:prstGeom prst="line">
            <a:avLst/>
          </a:prstGeom>
          <a:ln cap="flat" w="38100">
            <a:solidFill>
              <a:srgbClr val="11CAA0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3F0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485989" y="433388"/>
            <a:ext cx="15773400" cy="1988345"/>
            <a:chOff x="0" y="0"/>
            <a:chExt cx="21031200" cy="265112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031200" cy="2651127"/>
            </a:xfrm>
            <a:custGeom>
              <a:avLst/>
              <a:gdLst/>
              <a:ahLst/>
              <a:cxnLst/>
              <a:rect r="r" b="b" t="t" l="l"/>
              <a:pathLst>
                <a:path h="2651127" w="21031200">
                  <a:moveTo>
                    <a:pt x="0" y="0"/>
                  </a:moveTo>
                  <a:lnTo>
                    <a:pt x="21031200" y="0"/>
                  </a:lnTo>
                  <a:lnTo>
                    <a:pt x="21031200" y="2651127"/>
                  </a:lnTo>
                  <a:lnTo>
                    <a:pt x="0" y="2651127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04573" r="0" b="-104573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66675"/>
              <a:ext cx="21031200" cy="258445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128"/>
                </a:lnSpc>
              </a:pPr>
              <a:r>
                <a:rPr lang="en-US" b="true" sz="6600">
                  <a:solidFill>
                    <a:srgbClr val="005088"/>
                  </a:solidFill>
                  <a:latin typeface="Aptos Bold"/>
                  <a:ea typeface="Aptos Bold"/>
                  <a:cs typeface="Aptos Bold"/>
                  <a:sym typeface="Aptos Bold"/>
                </a:rPr>
                <a:t>Introducción y Objetivos</a:t>
              </a: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348740" y="2546033"/>
            <a:ext cx="15590520" cy="66736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60095" indent="-380048" lvl="1">
              <a:lnSpc>
                <a:spcPts val="7560"/>
              </a:lnSpc>
              <a:buFont typeface="Arial"/>
              <a:buChar char="•"/>
            </a:pPr>
            <a:r>
              <a:rPr lang="en-US" sz="4200">
                <a:solidFill>
                  <a:srgbClr val="000000"/>
                </a:solidFill>
                <a:latin typeface="Aptos"/>
                <a:ea typeface="Aptos"/>
                <a:cs typeface="Aptos"/>
                <a:sym typeface="Aptos"/>
              </a:rPr>
              <a:t>El Dominio de la Frecuencia:</a:t>
            </a:r>
          </a:p>
          <a:p>
            <a:pPr algn="l" marL="1337310" indent="-445770" lvl="2">
              <a:lnSpc>
                <a:spcPts val="6480"/>
              </a:lnSpc>
              <a:buFont typeface="Arial"/>
              <a:buChar char="⚬"/>
            </a:pPr>
            <a:r>
              <a:rPr lang="en-US" sz="3600">
                <a:solidFill>
                  <a:srgbClr val="000000"/>
                </a:solidFill>
                <a:latin typeface="Aptos"/>
                <a:ea typeface="Aptos"/>
                <a:cs typeface="Aptos"/>
                <a:sym typeface="Aptos"/>
              </a:rPr>
              <a:t>El objetivo es implementar algoritmos de registro de imágenes basados en las propiedades de la Transformada de Fourier.</a:t>
            </a:r>
          </a:p>
          <a:p>
            <a:pPr algn="l" marL="1337310" indent="-445770" lvl="2">
              <a:lnSpc>
                <a:spcPts val="6480"/>
              </a:lnSpc>
              <a:buFont typeface="Arial"/>
              <a:buChar char="⚬"/>
            </a:pPr>
            <a:r>
              <a:rPr lang="en-US" sz="3600">
                <a:solidFill>
                  <a:srgbClr val="000000"/>
                </a:solidFill>
                <a:latin typeface="Aptos"/>
                <a:ea typeface="Aptos"/>
                <a:cs typeface="Aptos"/>
                <a:sym typeface="Aptos"/>
              </a:rPr>
              <a:t>A diferencia de los métodos espaciales, el registro en frecuencia permite:</a:t>
            </a:r>
          </a:p>
          <a:p>
            <a:pPr algn="l" marL="1914525" indent="-478631" lvl="3">
              <a:lnSpc>
                <a:spcPts val="5400"/>
              </a:lnSpc>
              <a:buFont typeface="Arial"/>
              <a:buChar char="￭"/>
            </a:pPr>
            <a:r>
              <a:rPr lang="en-US" sz="3000">
                <a:solidFill>
                  <a:srgbClr val="000000"/>
                </a:solidFill>
                <a:latin typeface="Aptos"/>
                <a:ea typeface="Aptos"/>
                <a:cs typeface="Aptos"/>
                <a:sym typeface="Aptos"/>
              </a:rPr>
              <a:t>Detección robusta de traslación.</a:t>
            </a:r>
          </a:p>
          <a:p>
            <a:pPr algn="l" marL="1914525" indent="-478631" lvl="3">
              <a:lnSpc>
                <a:spcPts val="5400"/>
              </a:lnSpc>
              <a:buFont typeface="Arial"/>
              <a:buChar char="￭"/>
            </a:pPr>
            <a:r>
              <a:rPr lang="en-US" sz="3000">
                <a:solidFill>
                  <a:srgbClr val="000000"/>
                </a:solidFill>
                <a:latin typeface="Aptos"/>
                <a:ea typeface="Aptos"/>
                <a:cs typeface="Aptos"/>
                <a:sym typeface="Aptos"/>
              </a:rPr>
              <a:t>Invariancia ante iluminación.</a:t>
            </a:r>
          </a:p>
          <a:p>
            <a:pPr algn="l" marL="1914525" indent="-478631" lvl="3">
              <a:lnSpc>
                <a:spcPts val="5400"/>
              </a:lnSpc>
              <a:buFont typeface="Arial"/>
              <a:buChar char="￭"/>
            </a:pPr>
            <a:r>
              <a:rPr lang="en-US" sz="3000">
                <a:solidFill>
                  <a:srgbClr val="000000"/>
                </a:solidFill>
                <a:latin typeface="Aptos"/>
                <a:ea typeface="Aptos"/>
                <a:cs typeface="Aptos"/>
                <a:sym typeface="Aptos"/>
              </a:rPr>
              <a:t>Eficiencia en rotación y escala.</a:t>
            </a:r>
          </a:p>
        </p:txBody>
      </p:sp>
      <p:sp>
        <p:nvSpPr>
          <p:cNvPr name="AutoShape 6" id="6"/>
          <p:cNvSpPr/>
          <p:nvPr/>
        </p:nvSpPr>
        <p:spPr>
          <a:xfrm flipV="true">
            <a:off x="1257389" y="2421732"/>
            <a:ext cx="8115300" cy="19050"/>
          </a:xfrm>
          <a:prstGeom prst="line">
            <a:avLst/>
          </a:prstGeom>
          <a:ln cap="flat" w="38100">
            <a:solidFill>
              <a:srgbClr val="11CAA0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3F0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257300" y="547688"/>
            <a:ext cx="15773400" cy="1988345"/>
            <a:chOff x="0" y="0"/>
            <a:chExt cx="21031200" cy="265112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031200" cy="2651127"/>
            </a:xfrm>
            <a:custGeom>
              <a:avLst/>
              <a:gdLst/>
              <a:ahLst/>
              <a:cxnLst/>
              <a:rect r="r" b="b" t="t" l="l"/>
              <a:pathLst>
                <a:path h="2651127" w="21031200">
                  <a:moveTo>
                    <a:pt x="0" y="0"/>
                  </a:moveTo>
                  <a:lnTo>
                    <a:pt x="21031200" y="0"/>
                  </a:lnTo>
                  <a:lnTo>
                    <a:pt x="21031200" y="2651127"/>
                  </a:lnTo>
                  <a:lnTo>
                    <a:pt x="0" y="2651127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04573" r="0" b="-104573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66675"/>
              <a:ext cx="21031200" cy="258445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128"/>
                </a:lnSpc>
              </a:pPr>
              <a:r>
                <a:rPr lang="en-US" b="true" sz="6600">
                  <a:solidFill>
                    <a:srgbClr val="005088"/>
                  </a:solidFill>
                  <a:latin typeface="Aptos Bold"/>
                  <a:ea typeface="Aptos Bold"/>
                  <a:cs typeface="Aptos Bold"/>
                  <a:sym typeface="Aptos Bold"/>
                </a:rPr>
                <a:t>Inciso 1: Estimación de Traslación</a:t>
              </a: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348740" y="2612708"/>
            <a:ext cx="15590520" cy="66070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60095" indent="-380048" lvl="1">
              <a:lnSpc>
                <a:spcPts val="6804"/>
              </a:lnSpc>
              <a:buFont typeface="Arial"/>
              <a:buChar char="•"/>
            </a:pPr>
            <a:r>
              <a:rPr lang="en-US" sz="4200">
                <a:solidFill>
                  <a:srgbClr val="000000"/>
                </a:solidFill>
                <a:latin typeface="Aptos"/>
                <a:ea typeface="Aptos"/>
                <a:cs typeface="Aptos"/>
                <a:sym typeface="Aptos"/>
              </a:rPr>
              <a:t>Correlación de Fase</a:t>
            </a:r>
          </a:p>
          <a:p>
            <a:pPr algn="l" marL="1337310" indent="-445770" lvl="2">
              <a:lnSpc>
                <a:spcPts val="5832"/>
              </a:lnSpc>
              <a:buFont typeface="Arial"/>
              <a:buChar char="⚬"/>
            </a:pPr>
            <a:r>
              <a:rPr lang="en-US" sz="3600">
                <a:solidFill>
                  <a:srgbClr val="000000"/>
                </a:solidFill>
                <a:latin typeface="Aptos"/>
                <a:ea typeface="Aptos"/>
                <a:cs typeface="Aptos"/>
                <a:sym typeface="Aptos"/>
              </a:rPr>
              <a:t>Calculamos las FFTs y el espectro cruzado normalizado para localizar el desplazamiento.</a:t>
            </a:r>
          </a:p>
          <a:p>
            <a:pPr algn="l" marL="1914525" indent="-478631" lvl="3">
              <a:lnSpc>
                <a:spcPts val="4860"/>
              </a:lnSpc>
              <a:buFont typeface="Arial"/>
              <a:buChar char="￭"/>
            </a:pPr>
            <a:r>
              <a:rPr lang="en-US" sz="3000">
                <a:solidFill>
                  <a:srgbClr val="000000"/>
                </a:solidFill>
                <a:latin typeface="Aptos"/>
                <a:ea typeface="Aptos"/>
                <a:cs typeface="Aptos"/>
                <a:sym typeface="Aptos"/>
              </a:rPr>
              <a:t>Carga de imágenes f1 y f2.</a:t>
            </a:r>
          </a:p>
          <a:p>
            <a:pPr algn="l" marL="1914525" indent="-478631" lvl="3">
              <a:lnSpc>
                <a:spcPts val="4860"/>
              </a:lnSpc>
              <a:buFont typeface="Arial"/>
              <a:buChar char="￭"/>
            </a:pPr>
            <a:r>
              <a:rPr lang="en-US" sz="3000">
                <a:solidFill>
                  <a:srgbClr val="000000"/>
                </a:solidFill>
                <a:latin typeface="Aptos"/>
                <a:ea typeface="Aptos"/>
                <a:cs typeface="Aptos"/>
                <a:sym typeface="Aptos"/>
              </a:rPr>
              <a:t>Normalización por magnitud del espectro.</a:t>
            </a:r>
          </a:p>
          <a:p>
            <a:pPr algn="l" marL="1914525" indent="-478631" lvl="3">
              <a:lnSpc>
                <a:spcPts val="4860"/>
              </a:lnSpc>
              <a:buFont typeface="Arial"/>
              <a:buChar char="￭"/>
            </a:pPr>
            <a:r>
              <a:rPr lang="en-US" sz="3000">
                <a:solidFill>
                  <a:srgbClr val="000000"/>
                </a:solidFill>
                <a:latin typeface="Aptos"/>
                <a:ea typeface="Aptos"/>
                <a:cs typeface="Aptos"/>
                <a:sym typeface="Aptos"/>
              </a:rPr>
              <a:t>Localización del pico de correlación.</a:t>
            </a:r>
          </a:p>
          <a:p>
            <a:pPr algn="l" marL="2297430" indent="-574358" lvl="3">
              <a:lnSpc>
                <a:spcPts val="5832"/>
              </a:lnSpc>
            </a:pPr>
          </a:p>
          <a:p>
            <a:pPr algn="l" marL="1337310" indent="-445770" lvl="2">
              <a:lnSpc>
                <a:spcPts val="5832"/>
              </a:lnSpc>
              <a:buFont typeface="Arial"/>
              <a:buChar char="⚬"/>
            </a:pPr>
            <a:r>
              <a:rPr lang="en-US" sz="3600">
                <a:solidFill>
                  <a:srgbClr val="000000"/>
                </a:solidFill>
                <a:latin typeface="Aptos"/>
                <a:ea typeface="Aptos"/>
                <a:cs typeface="Aptos"/>
                <a:sym typeface="Aptos"/>
              </a:rPr>
              <a:t>Resultado: Vector desplazamiento (40,10).</a:t>
            </a:r>
          </a:p>
        </p:txBody>
      </p:sp>
      <p:sp>
        <p:nvSpPr>
          <p:cNvPr name="AutoShape 6" id="6"/>
          <p:cNvSpPr/>
          <p:nvPr/>
        </p:nvSpPr>
        <p:spPr>
          <a:xfrm flipV="true">
            <a:off x="1257389" y="2421732"/>
            <a:ext cx="8115300" cy="19050"/>
          </a:xfrm>
          <a:prstGeom prst="line">
            <a:avLst/>
          </a:prstGeom>
          <a:ln cap="flat" w="38100">
            <a:solidFill>
              <a:srgbClr val="11CAA0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3F0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257300" y="547688"/>
            <a:ext cx="15773400" cy="1988345"/>
            <a:chOff x="0" y="0"/>
            <a:chExt cx="21031200" cy="265112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031200" cy="2651127"/>
            </a:xfrm>
            <a:custGeom>
              <a:avLst/>
              <a:gdLst/>
              <a:ahLst/>
              <a:cxnLst/>
              <a:rect r="r" b="b" t="t" l="l"/>
              <a:pathLst>
                <a:path h="2651127" w="21031200">
                  <a:moveTo>
                    <a:pt x="0" y="0"/>
                  </a:moveTo>
                  <a:lnTo>
                    <a:pt x="21031200" y="0"/>
                  </a:lnTo>
                  <a:lnTo>
                    <a:pt x="21031200" y="2651127"/>
                  </a:lnTo>
                  <a:lnTo>
                    <a:pt x="0" y="2651127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04573" r="0" b="-104573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66675"/>
              <a:ext cx="21031200" cy="258445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128"/>
                </a:lnSpc>
              </a:pPr>
              <a:r>
                <a:rPr lang="en-US" b="true" sz="6600">
                  <a:solidFill>
                    <a:srgbClr val="005088"/>
                  </a:solidFill>
                  <a:latin typeface="Aptos Bold"/>
                  <a:ea typeface="Aptos Bold"/>
                  <a:cs typeface="Aptos Bold"/>
                  <a:sym typeface="Aptos Bold"/>
                </a:rPr>
                <a:t>Invariancia de Magnitud</a:t>
              </a: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348740" y="2932662"/>
            <a:ext cx="15590520" cy="65855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560"/>
              </a:lnSpc>
            </a:pPr>
            <a:r>
              <a:rPr lang="en-US" sz="4200">
                <a:solidFill>
                  <a:srgbClr val="000000"/>
                </a:solidFill>
                <a:latin typeface="Aptos"/>
                <a:ea typeface="Aptos"/>
                <a:cs typeface="Aptos"/>
                <a:sym typeface="Aptos"/>
              </a:rPr>
              <a:t>Teóricamente, la magnitud del espectro es invariante a traslaciones espaciales.</a:t>
            </a:r>
          </a:p>
          <a:p>
            <a:pPr algn="l">
              <a:lnSpc>
                <a:spcPts val="7560"/>
              </a:lnSpc>
            </a:pPr>
          </a:p>
          <a:p>
            <a:pPr algn="ctr">
              <a:lnSpc>
                <a:spcPts val="7560"/>
              </a:lnSpc>
            </a:pPr>
            <a:r>
              <a:rPr lang="en-US" sz="4200">
                <a:solidFill>
                  <a:srgbClr val="000000"/>
                </a:solidFill>
                <a:latin typeface="Aptos"/>
                <a:ea typeface="Aptos"/>
                <a:cs typeface="Aptos"/>
                <a:sym typeface="Aptos"/>
              </a:rPr>
              <a:t> F(u,v) = |F|∗ e</a:t>
            </a:r>
          </a:p>
          <a:p>
            <a:pPr algn="l">
              <a:lnSpc>
                <a:spcPts val="7560"/>
              </a:lnSpc>
            </a:pPr>
          </a:p>
          <a:p>
            <a:pPr algn="l">
              <a:lnSpc>
                <a:spcPts val="7560"/>
              </a:lnSpc>
            </a:pPr>
            <a:r>
              <a:rPr lang="en-US" sz="4200">
                <a:solidFill>
                  <a:srgbClr val="000000"/>
                </a:solidFill>
                <a:latin typeface="Aptos"/>
                <a:ea typeface="Aptos"/>
                <a:cs typeface="Aptos"/>
                <a:sym typeface="Aptos"/>
              </a:rPr>
              <a:t>Al trasladar, solo cambia la </a:t>
            </a:r>
            <a:r>
              <a:rPr lang="en-US" sz="4200" b="true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fase</a:t>
            </a:r>
            <a:r>
              <a:rPr lang="en-US" sz="4200">
                <a:solidFill>
                  <a:srgbClr val="000000"/>
                </a:solidFill>
                <a:latin typeface="Aptos"/>
                <a:ea typeface="Aptos"/>
                <a:cs typeface="Aptos"/>
                <a:sym typeface="Aptos"/>
              </a:rPr>
              <a:t> (φ), mientras que la </a:t>
            </a:r>
            <a:r>
              <a:rPr lang="en-US" sz="4200" b="true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magnitud</a:t>
            </a:r>
            <a:r>
              <a:rPr lang="en-US" sz="4200">
                <a:solidFill>
                  <a:srgbClr val="000000"/>
                </a:solidFill>
                <a:latin typeface="Aptos"/>
                <a:ea typeface="Aptos"/>
                <a:cs typeface="Aptos"/>
                <a:sym typeface="Aptos"/>
              </a:rPr>
              <a:t> (|F|) se mantiene constante.</a:t>
            </a:r>
          </a:p>
        </p:txBody>
      </p:sp>
      <p:sp>
        <p:nvSpPr>
          <p:cNvPr name="AutoShape 6" id="6"/>
          <p:cNvSpPr/>
          <p:nvPr/>
        </p:nvSpPr>
        <p:spPr>
          <a:xfrm flipV="true">
            <a:off x="1257389" y="2421732"/>
            <a:ext cx="8115300" cy="19050"/>
          </a:xfrm>
          <a:prstGeom prst="line">
            <a:avLst/>
          </a:prstGeom>
          <a:ln cap="flat" w="38100">
            <a:solidFill>
              <a:srgbClr val="11CAA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7" id="7"/>
          <p:cNvSpPr txBox="true"/>
          <p:nvPr/>
        </p:nvSpPr>
        <p:spPr>
          <a:xfrm rot="0">
            <a:off x="10721516" y="5916271"/>
            <a:ext cx="548283" cy="428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48"/>
              </a:lnSpc>
              <a:spcBef>
                <a:spcPct val="0"/>
              </a:spcBef>
            </a:pPr>
            <a:r>
              <a:rPr lang="en-US" sz="3100">
                <a:solidFill>
                  <a:srgbClr val="000000"/>
                </a:solidFill>
                <a:latin typeface="Aptos"/>
                <a:ea typeface="Aptos"/>
                <a:cs typeface="Aptos"/>
                <a:sym typeface="Aptos"/>
              </a:rPr>
              <a:t>j∗φ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5363039" y="5374227"/>
            <a:ext cx="7561921" cy="1474234"/>
            <a:chOff x="0" y="0"/>
            <a:chExt cx="1991617" cy="38827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991617" cy="388276"/>
            </a:xfrm>
            <a:custGeom>
              <a:avLst/>
              <a:gdLst/>
              <a:ahLst/>
              <a:cxnLst/>
              <a:rect r="r" b="b" t="t" l="l"/>
              <a:pathLst>
                <a:path h="388276" w="1991617">
                  <a:moveTo>
                    <a:pt x="52214" y="0"/>
                  </a:moveTo>
                  <a:lnTo>
                    <a:pt x="1939403" y="0"/>
                  </a:lnTo>
                  <a:cubicBezTo>
                    <a:pt x="1968240" y="0"/>
                    <a:pt x="1991617" y="23377"/>
                    <a:pt x="1991617" y="52214"/>
                  </a:cubicBezTo>
                  <a:lnTo>
                    <a:pt x="1991617" y="336062"/>
                  </a:lnTo>
                  <a:cubicBezTo>
                    <a:pt x="1991617" y="349910"/>
                    <a:pt x="1986116" y="363191"/>
                    <a:pt x="1976324" y="372983"/>
                  </a:cubicBezTo>
                  <a:cubicBezTo>
                    <a:pt x="1966532" y="382775"/>
                    <a:pt x="1953251" y="388276"/>
                    <a:pt x="1939403" y="388276"/>
                  </a:cubicBezTo>
                  <a:lnTo>
                    <a:pt x="52214" y="388276"/>
                  </a:lnTo>
                  <a:cubicBezTo>
                    <a:pt x="38366" y="388276"/>
                    <a:pt x="25085" y="382775"/>
                    <a:pt x="15293" y="372983"/>
                  </a:cubicBezTo>
                  <a:cubicBezTo>
                    <a:pt x="5501" y="363191"/>
                    <a:pt x="0" y="349910"/>
                    <a:pt x="0" y="336062"/>
                  </a:cubicBezTo>
                  <a:lnTo>
                    <a:pt x="0" y="52214"/>
                  </a:lnTo>
                  <a:cubicBezTo>
                    <a:pt x="0" y="38366"/>
                    <a:pt x="5501" y="25085"/>
                    <a:pt x="15293" y="15293"/>
                  </a:cubicBezTo>
                  <a:cubicBezTo>
                    <a:pt x="25085" y="5501"/>
                    <a:pt x="38366" y="0"/>
                    <a:pt x="52214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991617" cy="42637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5363039" y="5684815"/>
            <a:ext cx="7561921" cy="8660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696"/>
              </a:lnSpc>
              <a:spcBef>
                <a:spcPct val="0"/>
              </a:spcBef>
            </a:pPr>
            <a:r>
              <a:rPr lang="en-US" sz="6200">
                <a:solidFill>
                  <a:srgbClr val="000000"/>
                </a:solidFill>
                <a:latin typeface="Aptos"/>
                <a:ea typeface="Aptos"/>
                <a:cs typeface="Aptos"/>
                <a:sym typeface="Aptos"/>
              </a:rPr>
              <a:t> F(u,v) = |F|∗ e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3F0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257300" y="547688"/>
            <a:ext cx="15773400" cy="1988345"/>
            <a:chOff x="0" y="0"/>
            <a:chExt cx="21031200" cy="265112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031200" cy="2651127"/>
            </a:xfrm>
            <a:custGeom>
              <a:avLst/>
              <a:gdLst/>
              <a:ahLst/>
              <a:cxnLst/>
              <a:rect r="r" b="b" t="t" l="l"/>
              <a:pathLst>
                <a:path h="2651127" w="21031200">
                  <a:moveTo>
                    <a:pt x="0" y="0"/>
                  </a:moveTo>
                  <a:lnTo>
                    <a:pt x="21031200" y="0"/>
                  </a:lnTo>
                  <a:lnTo>
                    <a:pt x="21031200" y="2651127"/>
                  </a:lnTo>
                  <a:lnTo>
                    <a:pt x="0" y="2651127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04573" r="0" b="-104573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66675"/>
              <a:ext cx="21031200" cy="258445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128"/>
                </a:lnSpc>
              </a:pPr>
              <a:r>
                <a:rPr lang="en-US" b="true" sz="6600">
                  <a:solidFill>
                    <a:srgbClr val="005088"/>
                  </a:solidFill>
                  <a:latin typeface="Aptos Bold"/>
                  <a:ea typeface="Aptos Bold"/>
                  <a:cs typeface="Aptos Bold"/>
                  <a:sym typeface="Aptos Bold"/>
                </a:rPr>
                <a:t>Exploración de “Fuerza Bruta”</a:t>
              </a: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348740" y="3014291"/>
            <a:ext cx="15590520" cy="64355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60095" indent="-380048" lvl="1">
              <a:lnSpc>
                <a:spcPts val="5040"/>
              </a:lnSpc>
              <a:buFont typeface="Arial"/>
              <a:buChar char="•"/>
            </a:pPr>
            <a:r>
              <a:rPr lang="en-US" sz="4200">
                <a:solidFill>
                  <a:srgbClr val="000000"/>
                </a:solidFill>
                <a:latin typeface="Aptos"/>
                <a:ea typeface="Aptos"/>
                <a:cs typeface="Aptos"/>
                <a:sym typeface="Aptos"/>
              </a:rPr>
              <a:t>Implementamos un algoritmo que recorre sistemáticamente el dominio espacial para encontrar el vector de traslación.</a:t>
            </a:r>
          </a:p>
          <a:p>
            <a:pPr algn="l" marL="760095" indent="-380048" lvl="1">
              <a:lnSpc>
                <a:spcPts val="5040"/>
              </a:lnSpc>
              <a:buFont typeface="Arial"/>
              <a:buChar char="•"/>
            </a:pPr>
            <a:r>
              <a:rPr lang="en-US" sz="4200">
                <a:solidFill>
                  <a:srgbClr val="000000"/>
                </a:solidFill>
                <a:latin typeface="Aptos"/>
                <a:ea typeface="Aptos"/>
                <a:cs typeface="Aptos"/>
                <a:sym typeface="Aptos"/>
              </a:rPr>
              <a:t>Complejidad crítica: requiere comparar toda la imagen por cada intento de desplazamiento.</a:t>
            </a:r>
          </a:p>
          <a:p>
            <a:pPr algn="l" marL="760095" indent="-380048" lvl="1">
              <a:lnSpc>
                <a:spcPts val="5040"/>
              </a:lnSpc>
              <a:buFont typeface="Arial"/>
              <a:buChar char="•"/>
            </a:pPr>
            <a:r>
              <a:rPr lang="en-US" sz="4200">
                <a:solidFill>
                  <a:srgbClr val="000000"/>
                </a:solidFill>
                <a:latin typeface="Aptos"/>
                <a:ea typeface="Aptos"/>
                <a:cs typeface="Aptos"/>
                <a:sym typeface="Aptos"/>
              </a:rPr>
              <a:t>Match: Identifica el mínimo error local (vector 40,10).</a:t>
            </a:r>
          </a:p>
          <a:p>
            <a:pPr algn="l" marL="760095" indent="-380048" lvl="1">
              <a:lnSpc>
                <a:spcPts val="5040"/>
              </a:lnSpc>
              <a:buFont typeface="Arial"/>
              <a:buChar char="•"/>
            </a:pPr>
            <a:r>
              <a:rPr lang="en-US" sz="4200">
                <a:solidFill>
                  <a:srgbClr val="000000"/>
                </a:solidFill>
                <a:latin typeface="Aptos"/>
                <a:ea typeface="Aptos"/>
                <a:cs typeface="Aptos"/>
                <a:sym typeface="Aptos"/>
              </a:rPr>
              <a:t>Costo computacional: Inviable para imágenes de alta resolución.</a:t>
            </a:r>
          </a:p>
          <a:p>
            <a:pPr algn="l" marL="760095" indent="-380048" lvl="1">
              <a:lnSpc>
                <a:spcPts val="5040"/>
              </a:lnSpc>
              <a:buFont typeface="Arial"/>
              <a:buChar char="•"/>
            </a:pPr>
            <a:r>
              <a:rPr lang="en-US" sz="4200">
                <a:solidFill>
                  <a:srgbClr val="000000"/>
                </a:solidFill>
                <a:latin typeface="Aptos"/>
                <a:ea typeface="Aptos"/>
                <a:cs typeface="Aptos"/>
                <a:sym typeface="Aptos"/>
              </a:rPr>
              <a:t>Conclusión: Valida el resultado, pero resalta la superioridad de la FFT.</a:t>
            </a:r>
          </a:p>
        </p:txBody>
      </p:sp>
      <p:sp>
        <p:nvSpPr>
          <p:cNvPr name="AutoShape 6" id="6"/>
          <p:cNvSpPr/>
          <p:nvPr/>
        </p:nvSpPr>
        <p:spPr>
          <a:xfrm flipV="true">
            <a:off x="1257389" y="2421732"/>
            <a:ext cx="8115300" cy="19050"/>
          </a:xfrm>
          <a:prstGeom prst="line">
            <a:avLst/>
          </a:prstGeom>
          <a:ln cap="flat" w="38100">
            <a:solidFill>
              <a:srgbClr val="11CAA0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3F0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257300" y="547688"/>
            <a:ext cx="15773400" cy="1988345"/>
            <a:chOff x="0" y="0"/>
            <a:chExt cx="21031200" cy="265112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031200" cy="2651127"/>
            </a:xfrm>
            <a:custGeom>
              <a:avLst/>
              <a:gdLst/>
              <a:ahLst/>
              <a:cxnLst/>
              <a:rect r="r" b="b" t="t" l="l"/>
              <a:pathLst>
                <a:path h="2651127" w="21031200">
                  <a:moveTo>
                    <a:pt x="0" y="0"/>
                  </a:moveTo>
                  <a:lnTo>
                    <a:pt x="21031200" y="0"/>
                  </a:lnTo>
                  <a:lnTo>
                    <a:pt x="21031200" y="2651127"/>
                  </a:lnTo>
                  <a:lnTo>
                    <a:pt x="0" y="2651127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04573" r="0" b="-104573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66675"/>
              <a:ext cx="21031200" cy="258445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128"/>
                </a:lnSpc>
              </a:pPr>
              <a:r>
                <a:rPr lang="en-US" b="true" sz="6600">
                  <a:solidFill>
                    <a:srgbClr val="005088"/>
                  </a:solidFill>
                  <a:latin typeface="Aptos Bold"/>
                  <a:ea typeface="Aptos Bold"/>
                  <a:cs typeface="Aptos Bold"/>
                  <a:sym typeface="Aptos Bold"/>
                </a:rPr>
                <a:t>Inciso 2: Registro de Rotación</a:t>
              </a: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348740" y="2612708"/>
            <a:ext cx="15590520" cy="66070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60095" indent="-380048" lvl="1">
              <a:lnSpc>
                <a:spcPts val="6804"/>
              </a:lnSpc>
              <a:buFont typeface="Arial"/>
              <a:buChar char="•"/>
            </a:pPr>
            <a:r>
              <a:rPr lang="en-US" sz="4200">
                <a:solidFill>
                  <a:srgbClr val="000000"/>
                </a:solidFill>
                <a:latin typeface="Aptos"/>
                <a:ea typeface="Aptos"/>
                <a:cs typeface="Aptos"/>
                <a:sym typeface="Aptos"/>
              </a:rPr>
              <a:t>Mapeo Polar (ρ, θ)</a:t>
            </a:r>
          </a:p>
          <a:p>
            <a:pPr algn="l" marL="1337310" indent="-445770" lvl="2">
              <a:lnSpc>
                <a:spcPts val="5832"/>
              </a:lnSpc>
              <a:buFont typeface="Arial"/>
              <a:buChar char="⚬"/>
            </a:pPr>
            <a:r>
              <a:rPr lang="en-US" sz="3600">
                <a:solidFill>
                  <a:srgbClr val="000000"/>
                </a:solidFill>
                <a:latin typeface="Aptos"/>
                <a:ea typeface="Aptos"/>
                <a:cs typeface="Aptos"/>
                <a:sym typeface="Aptos"/>
              </a:rPr>
              <a:t>La rotación espacial se traduce en un desplazamiento lineal en el eje θ del espectro polar.</a:t>
            </a:r>
          </a:p>
          <a:p>
            <a:pPr algn="l" marL="1914525" indent="-478631" lvl="3">
              <a:lnSpc>
                <a:spcPts val="4860"/>
              </a:lnSpc>
              <a:buFont typeface="Arial"/>
              <a:buChar char="￭"/>
            </a:pPr>
            <a:r>
              <a:rPr lang="en-US" sz="3000">
                <a:solidFill>
                  <a:srgbClr val="000000"/>
                </a:solidFill>
                <a:latin typeface="Aptos"/>
                <a:ea typeface="Aptos"/>
                <a:cs typeface="Aptos"/>
                <a:sym typeface="Aptos"/>
              </a:rPr>
              <a:t>Conversión de coordenadas cartesianas a polares.</a:t>
            </a:r>
          </a:p>
          <a:p>
            <a:pPr algn="l" marL="1914525" indent="-478631" lvl="3">
              <a:lnSpc>
                <a:spcPts val="4860"/>
              </a:lnSpc>
              <a:buFont typeface="Arial"/>
              <a:buChar char="￭"/>
            </a:pPr>
            <a:r>
              <a:rPr lang="en-US" sz="3000">
                <a:solidFill>
                  <a:srgbClr val="000000"/>
                </a:solidFill>
                <a:latin typeface="Aptos"/>
                <a:ea typeface="Aptos"/>
                <a:cs typeface="Aptos"/>
                <a:sym typeface="Aptos"/>
              </a:rPr>
              <a:t>Promediado de magnitudes espectrales.</a:t>
            </a:r>
          </a:p>
          <a:p>
            <a:pPr algn="l" marL="1914525" indent="-478631" lvl="3">
              <a:lnSpc>
                <a:spcPts val="4860"/>
              </a:lnSpc>
              <a:buFont typeface="Arial"/>
              <a:buChar char="￭"/>
            </a:pPr>
            <a:r>
              <a:rPr lang="en-US" sz="3000">
                <a:solidFill>
                  <a:srgbClr val="000000"/>
                </a:solidFill>
                <a:latin typeface="Aptos"/>
                <a:ea typeface="Aptos"/>
                <a:cs typeface="Aptos"/>
                <a:sym typeface="Aptos"/>
              </a:rPr>
              <a:t>Resultado: Rotación de 35°.</a:t>
            </a:r>
          </a:p>
          <a:p>
            <a:pPr algn="l" marL="1337310" indent="-445770" lvl="2">
              <a:lnSpc>
                <a:spcPts val="5832"/>
              </a:lnSpc>
              <a:buFont typeface="Arial"/>
              <a:buChar char="⚬"/>
            </a:pPr>
            <a:r>
              <a:rPr lang="en-US" sz="3600">
                <a:solidFill>
                  <a:srgbClr val="000000"/>
                </a:solidFill>
                <a:latin typeface="Aptos"/>
                <a:ea typeface="Aptos"/>
                <a:cs typeface="Aptos"/>
                <a:sym typeface="Aptos"/>
              </a:rPr>
              <a:t>Validado mediante rotación sintética de f3 para comprobar que coincide con f4.</a:t>
            </a:r>
          </a:p>
        </p:txBody>
      </p:sp>
      <p:sp>
        <p:nvSpPr>
          <p:cNvPr name="AutoShape 6" id="6"/>
          <p:cNvSpPr/>
          <p:nvPr/>
        </p:nvSpPr>
        <p:spPr>
          <a:xfrm flipV="true">
            <a:off x="1257389" y="2421732"/>
            <a:ext cx="8115300" cy="19050"/>
          </a:xfrm>
          <a:prstGeom prst="line">
            <a:avLst/>
          </a:prstGeom>
          <a:ln cap="flat" w="38100">
            <a:solidFill>
              <a:srgbClr val="11CAA0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3F0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257300" y="547688"/>
            <a:ext cx="15773400" cy="1988345"/>
            <a:chOff x="0" y="0"/>
            <a:chExt cx="21031200" cy="265112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031200" cy="2651127"/>
            </a:xfrm>
            <a:custGeom>
              <a:avLst/>
              <a:gdLst/>
              <a:ahLst/>
              <a:cxnLst/>
              <a:rect r="r" b="b" t="t" l="l"/>
              <a:pathLst>
                <a:path h="2651127" w="21031200">
                  <a:moveTo>
                    <a:pt x="0" y="0"/>
                  </a:moveTo>
                  <a:lnTo>
                    <a:pt x="21031200" y="0"/>
                  </a:lnTo>
                  <a:lnTo>
                    <a:pt x="21031200" y="2651127"/>
                  </a:lnTo>
                  <a:lnTo>
                    <a:pt x="0" y="2651127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04573" r="0" b="-104573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66675"/>
              <a:ext cx="21031200" cy="258445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128"/>
                </a:lnSpc>
              </a:pPr>
              <a:r>
                <a:rPr lang="en-US" b="true" sz="6600">
                  <a:solidFill>
                    <a:srgbClr val="005088"/>
                  </a:solidFill>
                  <a:latin typeface="Aptos Bold"/>
                  <a:ea typeface="Aptos Bold"/>
                  <a:cs typeface="Aptos Bold"/>
                  <a:sym typeface="Aptos Bold"/>
                </a:rPr>
                <a:t>Inciso 3: Registro de Escalamiento</a:t>
              </a: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903059" y="2814011"/>
            <a:ext cx="16939260" cy="71639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44250" indent="-372125" lvl="1">
              <a:lnSpc>
                <a:spcPts val="5329"/>
              </a:lnSpc>
              <a:buFont typeface="Arial"/>
              <a:buChar char="•"/>
            </a:pPr>
            <a:r>
              <a:rPr lang="en-US" sz="4112">
                <a:solidFill>
                  <a:srgbClr val="000000"/>
                </a:solidFill>
                <a:latin typeface="Aptos"/>
                <a:ea typeface="Aptos"/>
                <a:cs typeface="Aptos"/>
                <a:sym typeface="Aptos"/>
              </a:rPr>
              <a:t>Coordenadas Log-Polares</a:t>
            </a:r>
          </a:p>
          <a:p>
            <a:pPr algn="l" marL="1357872" indent="-452624" lvl="2">
              <a:lnSpc>
                <a:spcPts val="4548"/>
              </a:lnSpc>
              <a:buFont typeface="Arial"/>
              <a:buChar char="⚬"/>
            </a:pPr>
            <a:r>
              <a:rPr lang="en-US" sz="3509">
                <a:solidFill>
                  <a:srgbClr val="000000"/>
                </a:solidFill>
                <a:latin typeface="Aptos"/>
                <a:ea typeface="Aptos"/>
                <a:cs typeface="Aptos"/>
                <a:sym typeface="Aptos"/>
              </a:rPr>
              <a:t>El cambio de escala en el espectro se transforma en un desplazamiento lineal</a:t>
            </a:r>
          </a:p>
          <a:p>
            <a:pPr algn="ctr" marL="1357595" indent="-452532" lvl="2">
              <a:lnSpc>
                <a:spcPts val="4548"/>
              </a:lnSpc>
            </a:pPr>
            <a:r>
              <a:rPr lang="en-US" sz="3509">
                <a:solidFill>
                  <a:srgbClr val="000000"/>
                </a:solidFill>
                <a:latin typeface="Aptos"/>
                <a:ea typeface="Aptos"/>
                <a:cs typeface="Aptos"/>
                <a:sym typeface="Aptos"/>
              </a:rPr>
              <a:t>ρ=ln⁡(k∙r)=ln⁡(k)+ln⁡(r)</a:t>
            </a:r>
          </a:p>
          <a:p>
            <a:pPr algn="l" marL="744250" indent="-372125" lvl="1">
              <a:lnSpc>
                <a:spcPts val="5329"/>
              </a:lnSpc>
              <a:buFont typeface="Arial"/>
              <a:buChar char="•"/>
            </a:pPr>
            <a:r>
              <a:rPr lang="en-US" sz="4112">
                <a:solidFill>
                  <a:srgbClr val="000000"/>
                </a:solidFill>
                <a:latin typeface="Aptos"/>
                <a:ea typeface="Aptos"/>
                <a:cs typeface="Aptos"/>
                <a:sym typeface="Aptos"/>
              </a:rPr>
              <a:t>Cálculo del Factor de escala</a:t>
            </a:r>
          </a:p>
          <a:p>
            <a:pPr algn="l" marL="1357872" indent="-452624" lvl="2">
              <a:lnSpc>
                <a:spcPts val="4548"/>
              </a:lnSpc>
              <a:buFont typeface="Arial"/>
              <a:buChar char="⚬"/>
            </a:pPr>
            <a:r>
              <a:rPr lang="en-US" sz="3509">
                <a:solidFill>
                  <a:srgbClr val="000000"/>
                </a:solidFill>
                <a:latin typeface="Aptos"/>
                <a:ea typeface="Aptos"/>
                <a:cs typeface="Aptos"/>
                <a:sym typeface="Aptos"/>
              </a:rPr>
              <a:t>Se implementó un algoritmo aplicando correlación de fase directamente sobre el mapa log-polar.</a:t>
            </a:r>
          </a:p>
          <a:p>
            <a:pPr algn="l" marL="1357872" indent="-452624" lvl="2">
              <a:lnSpc>
                <a:spcPts val="4548"/>
              </a:lnSpc>
              <a:buFont typeface="Arial"/>
              <a:buChar char="⚬"/>
            </a:pPr>
            <a:r>
              <a:rPr lang="en-US" sz="3509">
                <a:solidFill>
                  <a:srgbClr val="000000"/>
                </a:solidFill>
                <a:latin typeface="Aptos"/>
                <a:ea typeface="Aptos"/>
                <a:cs typeface="Aptos"/>
                <a:sym typeface="Aptos"/>
              </a:rPr>
              <a:t>Resultado obtenido: Desplazamiento lineal equivalente a un factor k ≈ 1,2935.</a:t>
            </a:r>
          </a:p>
          <a:p>
            <a:pPr algn="l" marL="744250" indent="-372125" lvl="1">
              <a:lnSpc>
                <a:spcPts val="5329"/>
              </a:lnSpc>
              <a:buFont typeface="Arial"/>
              <a:buChar char="•"/>
            </a:pPr>
            <a:r>
              <a:rPr lang="en-US" sz="4112">
                <a:solidFill>
                  <a:srgbClr val="000000"/>
                </a:solidFill>
                <a:latin typeface="Aptos"/>
                <a:ea typeface="Aptos"/>
                <a:cs typeface="Aptos"/>
                <a:sym typeface="Aptos"/>
              </a:rPr>
              <a:t>Validación del algoritmo</a:t>
            </a:r>
          </a:p>
          <a:p>
            <a:pPr algn="l" marL="1357872" indent="-452624" lvl="2">
              <a:lnSpc>
                <a:spcPts val="4548"/>
              </a:lnSpc>
              <a:buFont typeface="Arial"/>
              <a:buChar char="⚬"/>
            </a:pPr>
            <a:r>
              <a:rPr lang="en-US" sz="3509">
                <a:solidFill>
                  <a:srgbClr val="000000"/>
                </a:solidFill>
                <a:latin typeface="Aptos"/>
                <a:ea typeface="Aptos"/>
                <a:cs typeface="Aptos"/>
                <a:sym typeface="Aptos"/>
              </a:rPr>
              <a:t>Se creó un programa de comprobación que multiplica las coordenadas polares por el factor k  (r*k).</a:t>
            </a:r>
          </a:p>
          <a:p>
            <a:pPr algn="l" marL="1357872" indent="-452624" lvl="2">
              <a:lnSpc>
                <a:spcPts val="4548"/>
              </a:lnSpc>
              <a:buFont typeface="Arial"/>
              <a:buChar char="⚬"/>
            </a:pPr>
            <a:r>
              <a:rPr lang="en-US" sz="3509">
                <a:solidFill>
                  <a:srgbClr val="000000"/>
                </a:solidFill>
                <a:latin typeface="Aptos"/>
                <a:ea typeface="Aptos"/>
                <a:cs typeface="Aptos"/>
                <a:sym typeface="Aptos"/>
              </a:rPr>
              <a:t>Al escalar la imagen 1 con k=1,2935 se generó una imagen idéntica a la imagen 5, confirmando la precisión del modelo.</a:t>
            </a:r>
          </a:p>
        </p:txBody>
      </p:sp>
      <p:sp>
        <p:nvSpPr>
          <p:cNvPr name="AutoShape 6" id="6"/>
          <p:cNvSpPr/>
          <p:nvPr/>
        </p:nvSpPr>
        <p:spPr>
          <a:xfrm flipV="true">
            <a:off x="1257389" y="2421732"/>
            <a:ext cx="8115300" cy="19050"/>
          </a:xfrm>
          <a:prstGeom prst="line">
            <a:avLst/>
          </a:prstGeom>
          <a:ln cap="flat" w="38100">
            <a:solidFill>
              <a:srgbClr val="11CAA0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7" id="7"/>
          <p:cNvGrpSpPr/>
          <p:nvPr/>
        </p:nvGrpSpPr>
        <p:grpSpPr>
          <a:xfrm rot="0">
            <a:off x="6352605" y="4055382"/>
            <a:ext cx="6040169" cy="679289"/>
            <a:chOff x="0" y="0"/>
            <a:chExt cx="1590826" cy="178907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590826" cy="178907"/>
            </a:xfrm>
            <a:custGeom>
              <a:avLst/>
              <a:gdLst/>
              <a:ahLst/>
              <a:cxnLst/>
              <a:rect r="r" b="b" t="t" l="l"/>
              <a:pathLst>
                <a:path h="178907" w="1590826">
                  <a:moveTo>
                    <a:pt x="65369" y="0"/>
                  </a:moveTo>
                  <a:lnTo>
                    <a:pt x="1525458" y="0"/>
                  </a:lnTo>
                  <a:cubicBezTo>
                    <a:pt x="1561560" y="0"/>
                    <a:pt x="1590826" y="29267"/>
                    <a:pt x="1590826" y="65369"/>
                  </a:cubicBezTo>
                  <a:lnTo>
                    <a:pt x="1590826" y="113539"/>
                  </a:lnTo>
                  <a:cubicBezTo>
                    <a:pt x="1590826" y="149641"/>
                    <a:pt x="1561560" y="178907"/>
                    <a:pt x="1525458" y="178907"/>
                  </a:cubicBezTo>
                  <a:lnTo>
                    <a:pt x="65369" y="178907"/>
                  </a:lnTo>
                  <a:cubicBezTo>
                    <a:pt x="29267" y="178907"/>
                    <a:pt x="0" y="149641"/>
                    <a:pt x="0" y="113539"/>
                  </a:cubicBezTo>
                  <a:lnTo>
                    <a:pt x="0" y="65369"/>
                  </a:lnTo>
                  <a:cubicBezTo>
                    <a:pt x="0" y="29267"/>
                    <a:pt x="29267" y="0"/>
                    <a:pt x="65369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590826" cy="21700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7269103" y="4136708"/>
            <a:ext cx="4207173" cy="5547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12"/>
              </a:lnSpc>
              <a:spcBef>
                <a:spcPct val="0"/>
              </a:spcBef>
            </a:pPr>
            <a:r>
              <a:rPr lang="en-US" sz="3900">
                <a:solidFill>
                  <a:srgbClr val="000000"/>
                </a:solidFill>
                <a:latin typeface="Aptos"/>
                <a:ea typeface="Aptos"/>
                <a:cs typeface="Aptos"/>
                <a:sym typeface="Aptos"/>
              </a:rPr>
              <a:t>ρ=</a:t>
            </a:r>
            <a:r>
              <a:rPr lang="en-US" sz="3900">
                <a:solidFill>
                  <a:srgbClr val="000000"/>
                </a:solidFill>
                <a:latin typeface="Aptos"/>
                <a:ea typeface="Aptos"/>
                <a:cs typeface="Aptos"/>
                <a:sym typeface="Aptos"/>
              </a:rPr>
              <a:t>ln⁡(k∙r)=ln⁡(k)+ln⁡(r)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3F0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257300" y="547688"/>
            <a:ext cx="15773400" cy="1988345"/>
            <a:chOff x="0" y="0"/>
            <a:chExt cx="21031200" cy="265112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031200" cy="2651127"/>
            </a:xfrm>
            <a:custGeom>
              <a:avLst/>
              <a:gdLst/>
              <a:ahLst/>
              <a:cxnLst/>
              <a:rect r="r" b="b" t="t" l="l"/>
              <a:pathLst>
                <a:path h="2651127" w="21031200">
                  <a:moveTo>
                    <a:pt x="0" y="0"/>
                  </a:moveTo>
                  <a:lnTo>
                    <a:pt x="21031200" y="0"/>
                  </a:lnTo>
                  <a:lnTo>
                    <a:pt x="21031200" y="2651127"/>
                  </a:lnTo>
                  <a:lnTo>
                    <a:pt x="0" y="2651127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04573" r="0" b="-104573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66675"/>
              <a:ext cx="21031200" cy="258445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128"/>
                </a:lnSpc>
              </a:pPr>
              <a:r>
                <a:rPr lang="en-US" b="true" sz="6600">
                  <a:solidFill>
                    <a:srgbClr val="005088"/>
                  </a:solidFill>
                  <a:latin typeface="Aptos Bold"/>
                  <a:ea typeface="Aptos Bold"/>
                  <a:cs typeface="Aptos Bold"/>
                  <a:sym typeface="Aptos Bold"/>
                </a:rPr>
                <a:t>Inciso 4: Coherencia de fase</a:t>
              </a: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348740" y="2546033"/>
            <a:ext cx="15590520" cy="58940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60095" indent="-380048" lvl="1">
              <a:lnSpc>
                <a:spcPts val="7560"/>
              </a:lnSpc>
              <a:buFont typeface="Arial"/>
              <a:buChar char="•"/>
            </a:pPr>
            <a:r>
              <a:rPr lang="en-US" sz="4200">
                <a:solidFill>
                  <a:srgbClr val="000000"/>
                </a:solidFill>
                <a:latin typeface="Aptos"/>
                <a:ea typeface="Aptos"/>
                <a:cs typeface="Aptos"/>
                <a:sym typeface="Aptos"/>
              </a:rPr>
              <a:t>Búsqueda del factor K</a:t>
            </a:r>
          </a:p>
          <a:p>
            <a:pPr algn="l" marL="1337310" indent="-445770" lvl="2">
              <a:lnSpc>
                <a:spcPts val="6480"/>
              </a:lnSpc>
              <a:buFont typeface="Arial"/>
              <a:buChar char="⚬"/>
            </a:pPr>
            <a:r>
              <a:rPr lang="en-US" sz="3600">
                <a:solidFill>
                  <a:srgbClr val="000000"/>
                </a:solidFill>
                <a:latin typeface="Aptos"/>
                <a:ea typeface="Aptos"/>
                <a:cs typeface="Aptos"/>
                <a:sym typeface="Aptos"/>
              </a:rPr>
              <a:t>Reconstruimos la imagen combinando magnitud de f6 y fase de f7 mediante</a:t>
            </a:r>
          </a:p>
          <a:p>
            <a:pPr algn="ctr">
              <a:lnSpc>
                <a:spcPts val="7199"/>
              </a:lnSpc>
            </a:pPr>
            <a:r>
              <a:rPr lang="en-US" sz="3999">
                <a:solidFill>
                  <a:srgbClr val="000000"/>
                </a:solidFill>
                <a:latin typeface="Aptos"/>
                <a:ea typeface="Aptos"/>
                <a:cs typeface="Aptos"/>
                <a:sym typeface="Aptos"/>
              </a:rPr>
              <a:t>Espectro=Mag ∙exp⁡(i∙k∙fase)</a:t>
            </a:r>
          </a:p>
          <a:p>
            <a:pPr algn="l" marL="1337310" indent="-445770" lvl="2">
              <a:lnSpc>
                <a:spcPts val="6480"/>
              </a:lnSpc>
            </a:pPr>
          </a:p>
          <a:p>
            <a:pPr algn="l" marL="1337310" indent="-445770" lvl="2">
              <a:lnSpc>
                <a:spcPts val="6480"/>
              </a:lnSpc>
              <a:buFont typeface="Arial"/>
              <a:buChar char="⚬"/>
            </a:pPr>
            <a:r>
              <a:rPr lang="en-US" sz="3600">
                <a:solidFill>
                  <a:srgbClr val="000000"/>
                </a:solidFill>
                <a:latin typeface="Aptos"/>
                <a:ea typeface="Aptos"/>
                <a:cs typeface="Aptos"/>
                <a:sym typeface="Aptos"/>
              </a:rPr>
              <a:t>Métrica de nitidez: Magnitud del gradiente espacial.</a:t>
            </a:r>
          </a:p>
          <a:p>
            <a:pPr algn="l" marL="1337310" indent="-445770" lvl="2">
              <a:lnSpc>
                <a:spcPts val="6480"/>
              </a:lnSpc>
              <a:buFont typeface="Arial"/>
              <a:buChar char="⚬"/>
            </a:pPr>
            <a:r>
              <a:rPr lang="en-US" sz="3600">
                <a:solidFill>
                  <a:srgbClr val="000000"/>
                </a:solidFill>
                <a:latin typeface="Aptos"/>
                <a:ea typeface="Aptos"/>
                <a:cs typeface="Aptos"/>
                <a:sym typeface="Aptos"/>
              </a:rPr>
              <a:t>Búsqueda automática del k óptimo que maximiza bordes definidos.</a:t>
            </a:r>
          </a:p>
        </p:txBody>
      </p:sp>
      <p:sp>
        <p:nvSpPr>
          <p:cNvPr name="AutoShape 6" id="6"/>
          <p:cNvSpPr/>
          <p:nvPr/>
        </p:nvSpPr>
        <p:spPr>
          <a:xfrm flipV="true">
            <a:off x="1257389" y="2421732"/>
            <a:ext cx="8115300" cy="19050"/>
          </a:xfrm>
          <a:prstGeom prst="line">
            <a:avLst/>
          </a:prstGeom>
          <a:ln cap="flat" w="38100">
            <a:solidFill>
              <a:srgbClr val="11CAA0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7" id="7"/>
          <p:cNvGrpSpPr/>
          <p:nvPr/>
        </p:nvGrpSpPr>
        <p:grpSpPr>
          <a:xfrm rot="0">
            <a:off x="5363039" y="4964579"/>
            <a:ext cx="7561921" cy="1474234"/>
            <a:chOff x="0" y="0"/>
            <a:chExt cx="1991617" cy="38827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991617" cy="388276"/>
            </a:xfrm>
            <a:custGeom>
              <a:avLst/>
              <a:gdLst/>
              <a:ahLst/>
              <a:cxnLst/>
              <a:rect r="r" b="b" t="t" l="l"/>
              <a:pathLst>
                <a:path h="388276" w="1991617">
                  <a:moveTo>
                    <a:pt x="52214" y="0"/>
                  </a:moveTo>
                  <a:lnTo>
                    <a:pt x="1939403" y="0"/>
                  </a:lnTo>
                  <a:cubicBezTo>
                    <a:pt x="1968240" y="0"/>
                    <a:pt x="1991617" y="23377"/>
                    <a:pt x="1991617" y="52214"/>
                  </a:cubicBezTo>
                  <a:lnTo>
                    <a:pt x="1991617" y="336062"/>
                  </a:lnTo>
                  <a:cubicBezTo>
                    <a:pt x="1991617" y="349910"/>
                    <a:pt x="1986116" y="363191"/>
                    <a:pt x="1976324" y="372983"/>
                  </a:cubicBezTo>
                  <a:cubicBezTo>
                    <a:pt x="1966532" y="382775"/>
                    <a:pt x="1953251" y="388276"/>
                    <a:pt x="1939403" y="388276"/>
                  </a:cubicBezTo>
                  <a:lnTo>
                    <a:pt x="52214" y="388276"/>
                  </a:lnTo>
                  <a:cubicBezTo>
                    <a:pt x="38366" y="388276"/>
                    <a:pt x="25085" y="382775"/>
                    <a:pt x="15293" y="372983"/>
                  </a:cubicBezTo>
                  <a:cubicBezTo>
                    <a:pt x="5501" y="363191"/>
                    <a:pt x="0" y="349910"/>
                    <a:pt x="0" y="336062"/>
                  </a:cubicBezTo>
                  <a:lnTo>
                    <a:pt x="0" y="52214"/>
                  </a:lnTo>
                  <a:cubicBezTo>
                    <a:pt x="0" y="38366"/>
                    <a:pt x="5501" y="25085"/>
                    <a:pt x="15293" y="15293"/>
                  </a:cubicBezTo>
                  <a:cubicBezTo>
                    <a:pt x="25085" y="5501"/>
                    <a:pt x="38366" y="0"/>
                    <a:pt x="52214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991617" cy="42637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5363039" y="5437091"/>
            <a:ext cx="7561921" cy="5768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28"/>
              </a:lnSpc>
              <a:spcBef>
                <a:spcPct val="0"/>
              </a:spcBef>
            </a:pPr>
            <a:r>
              <a:rPr lang="en-US" sz="4100">
                <a:solidFill>
                  <a:srgbClr val="000000"/>
                </a:solidFill>
                <a:latin typeface="Aptos"/>
                <a:ea typeface="Aptos"/>
                <a:cs typeface="Aptos"/>
                <a:sym typeface="Aptos"/>
              </a:rPr>
              <a:t>Esp</a:t>
            </a:r>
            <a:r>
              <a:rPr lang="en-US" sz="4100">
                <a:solidFill>
                  <a:srgbClr val="000000"/>
                </a:solidFill>
                <a:latin typeface="Aptos"/>
                <a:ea typeface="Aptos"/>
                <a:cs typeface="Aptos"/>
                <a:sym typeface="Aptos"/>
              </a:rPr>
              <a:t>ectro=Mag ∙exp⁡(i∙k∙fase)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3F0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257300" y="547688"/>
            <a:ext cx="15773400" cy="1988345"/>
            <a:chOff x="0" y="0"/>
            <a:chExt cx="21031200" cy="265112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031200" cy="2651127"/>
            </a:xfrm>
            <a:custGeom>
              <a:avLst/>
              <a:gdLst/>
              <a:ahLst/>
              <a:cxnLst/>
              <a:rect r="r" b="b" t="t" l="l"/>
              <a:pathLst>
                <a:path h="2651127" w="21031200">
                  <a:moveTo>
                    <a:pt x="0" y="0"/>
                  </a:moveTo>
                  <a:lnTo>
                    <a:pt x="21031200" y="0"/>
                  </a:lnTo>
                  <a:lnTo>
                    <a:pt x="21031200" y="2651127"/>
                  </a:lnTo>
                  <a:lnTo>
                    <a:pt x="0" y="2651127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04573" r="0" b="-104573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66675"/>
              <a:ext cx="21031200" cy="258445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128"/>
                </a:lnSpc>
              </a:pPr>
              <a:r>
                <a:rPr lang="en-US" b="true" sz="6600">
                  <a:solidFill>
                    <a:srgbClr val="005088"/>
                  </a:solidFill>
                  <a:latin typeface="Aptos Bold"/>
                  <a:ea typeface="Aptos Bold"/>
                  <a:cs typeface="Aptos Bold"/>
                  <a:sym typeface="Aptos Bold"/>
                </a:rPr>
                <a:t>Resultados: TIF vs JPG</a:t>
              </a:r>
            </a:p>
          </p:txBody>
        </p:sp>
      </p:grpSp>
      <p:sp>
        <p:nvSpPr>
          <p:cNvPr name="AutoShape 5" id="5"/>
          <p:cNvSpPr/>
          <p:nvPr/>
        </p:nvSpPr>
        <p:spPr>
          <a:xfrm flipV="true">
            <a:off x="1257389" y="2421732"/>
            <a:ext cx="8115300" cy="19050"/>
          </a:xfrm>
          <a:prstGeom prst="line">
            <a:avLst/>
          </a:prstGeom>
          <a:ln cap="flat" w="38100">
            <a:solidFill>
              <a:srgbClr val="11CAA0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6" id="6"/>
          <p:cNvGrpSpPr/>
          <p:nvPr/>
        </p:nvGrpSpPr>
        <p:grpSpPr>
          <a:xfrm rot="0">
            <a:off x="1257300" y="2784158"/>
            <a:ext cx="7561921" cy="5698801"/>
            <a:chOff x="0" y="0"/>
            <a:chExt cx="1991617" cy="1500919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991617" cy="1500919"/>
            </a:xfrm>
            <a:custGeom>
              <a:avLst/>
              <a:gdLst/>
              <a:ahLst/>
              <a:cxnLst/>
              <a:rect r="r" b="b" t="t" l="l"/>
              <a:pathLst>
                <a:path h="1500919" w="1991617">
                  <a:moveTo>
                    <a:pt x="52214" y="0"/>
                  </a:moveTo>
                  <a:lnTo>
                    <a:pt x="1939403" y="0"/>
                  </a:lnTo>
                  <a:cubicBezTo>
                    <a:pt x="1968240" y="0"/>
                    <a:pt x="1991617" y="23377"/>
                    <a:pt x="1991617" y="52214"/>
                  </a:cubicBezTo>
                  <a:lnTo>
                    <a:pt x="1991617" y="1448705"/>
                  </a:lnTo>
                  <a:cubicBezTo>
                    <a:pt x="1991617" y="1462553"/>
                    <a:pt x="1986116" y="1475834"/>
                    <a:pt x="1976324" y="1485626"/>
                  </a:cubicBezTo>
                  <a:cubicBezTo>
                    <a:pt x="1966532" y="1495418"/>
                    <a:pt x="1953251" y="1500919"/>
                    <a:pt x="1939403" y="1500919"/>
                  </a:cubicBezTo>
                  <a:lnTo>
                    <a:pt x="52214" y="1500919"/>
                  </a:lnTo>
                  <a:cubicBezTo>
                    <a:pt x="38366" y="1500919"/>
                    <a:pt x="25085" y="1495418"/>
                    <a:pt x="15293" y="1485626"/>
                  </a:cubicBezTo>
                  <a:cubicBezTo>
                    <a:pt x="5501" y="1475834"/>
                    <a:pt x="0" y="1462553"/>
                    <a:pt x="0" y="1448705"/>
                  </a:cubicBezTo>
                  <a:lnTo>
                    <a:pt x="0" y="52214"/>
                  </a:lnTo>
                  <a:cubicBezTo>
                    <a:pt x="0" y="38366"/>
                    <a:pt x="5501" y="25085"/>
                    <a:pt x="15293" y="15293"/>
                  </a:cubicBezTo>
                  <a:cubicBezTo>
                    <a:pt x="25085" y="5501"/>
                    <a:pt x="38366" y="0"/>
                    <a:pt x="52214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1991617" cy="153901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9697379" y="2784158"/>
            <a:ext cx="7561921" cy="5698801"/>
            <a:chOff x="0" y="0"/>
            <a:chExt cx="1991617" cy="1500919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991617" cy="1500919"/>
            </a:xfrm>
            <a:custGeom>
              <a:avLst/>
              <a:gdLst/>
              <a:ahLst/>
              <a:cxnLst/>
              <a:rect r="r" b="b" t="t" l="l"/>
              <a:pathLst>
                <a:path h="1500919" w="1991617">
                  <a:moveTo>
                    <a:pt x="52214" y="0"/>
                  </a:moveTo>
                  <a:lnTo>
                    <a:pt x="1939403" y="0"/>
                  </a:lnTo>
                  <a:cubicBezTo>
                    <a:pt x="1968240" y="0"/>
                    <a:pt x="1991617" y="23377"/>
                    <a:pt x="1991617" y="52214"/>
                  </a:cubicBezTo>
                  <a:lnTo>
                    <a:pt x="1991617" y="1448705"/>
                  </a:lnTo>
                  <a:cubicBezTo>
                    <a:pt x="1991617" y="1462553"/>
                    <a:pt x="1986116" y="1475834"/>
                    <a:pt x="1976324" y="1485626"/>
                  </a:cubicBezTo>
                  <a:cubicBezTo>
                    <a:pt x="1966532" y="1495418"/>
                    <a:pt x="1953251" y="1500919"/>
                    <a:pt x="1939403" y="1500919"/>
                  </a:cubicBezTo>
                  <a:lnTo>
                    <a:pt x="52214" y="1500919"/>
                  </a:lnTo>
                  <a:cubicBezTo>
                    <a:pt x="38366" y="1500919"/>
                    <a:pt x="25085" y="1495418"/>
                    <a:pt x="15293" y="1485626"/>
                  </a:cubicBezTo>
                  <a:cubicBezTo>
                    <a:pt x="5501" y="1475834"/>
                    <a:pt x="0" y="1462553"/>
                    <a:pt x="0" y="1448705"/>
                  </a:cubicBezTo>
                  <a:lnTo>
                    <a:pt x="0" y="52214"/>
                  </a:lnTo>
                  <a:cubicBezTo>
                    <a:pt x="0" y="38366"/>
                    <a:pt x="5501" y="25085"/>
                    <a:pt x="15293" y="15293"/>
                  </a:cubicBezTo>
                  <a:cubicBezTo>
                    <a:pt x="25085" y="5501"/>
                    <a:pt x="38366" y="0"/>
                    <a:pt x="52214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1991617" cy="153901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1257300" y="3221266"/>
            <a:ext cx="7561921" cy="42816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724"/>
              </a:lnSpc>
            </a:pPr>
            <a:r>
              <a:rPr lang="en-US" sz="5300" b="true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Formato JPG</a:t>
            </a:r>
          </a:p>
          <a:p>
            <a:pPr algn="ctr">
              <a:lnSpc>
                <a:spcPts val="5724"/>
              </a:lnSpc>
            </a:pPr>
          </a:p>
          <a:p>
            <a:pPr algn="ctr">
              <a:lnSpc>
                <a:spcPts val="4428"/>
              </a:lnSpc>
            </a:pPr>
            <a:r>
              <a:rPr lang="en-US" sz="4100">
                <a:solidFill>
                  <a:srgbClr val="000000"/>
                </a:solidFill>
                <a:latin typeface="Aptos"/>
                <a:ea typeface="Aptos"/>
                <a:cs typeface="Aptos"/>
                <a:sym typeface="Aptos"/>
              </a:rPr>
              <a:t>La compresión recorta frecuencias altas, afetando agresivamente la fase.</a:t>
            </a:r>
          </a:p>
          <a:p>
            <a:pPr algn="ctr">
              <a:lnSpc>
                <a:spcPts val="4428"/>
              </a:lnSpc>
            </a:pPr>
          </a:p>
          <a:p>
            <a:pPr algn="ctr">
              <a:lnSpc>
                <a:spcPts val="4428"/>
              </a:lnSpc>
              <a:spcBef>
                <a:spcPct val="0"/>
              </a:spcBef>
            </a:pPr>
            <a:r>
              <a:rPr lang="en-US" sz="4100">
                <a:solidFill>
                  <a:srgbClr val="000000"/>
                </a:solidFill>
                <a:latin typeface="Aptos"/>
                <a:ea typeface="Aptos"/>
                <a:cs typeface="Aptos"/>
                <a:sym typeface="Aptos"/>
              </a:rPr>
              <a:t>Menor nitidez máxima.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9697379" y="3221266"/>
            <a:ext cx="7561921" cy="42816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724"/>
              </a:lnSpc>
            </a:pPr>
            <a:r>
              <a:rPr lang="en-US" sz="5300" b="true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Formato TIF</a:t>
            </a:r>
          </a:p>
          <a:p>
            <a:pPr algn="ctr">
              <a:lnSpc>
                <a:spcPts val="5724"/>
              </a:lnSpc>
            </a:pPr>
          </a:p>
          <a:p>
            <a:pPr algn="ctr">
              <a:lnSpc>
                <a:spcPts val="4428"/>
              </a:lnSpc>
            </a:pPr>
            <a:r>
              <a:rPr lang="en-US" sz="4100">
                <a:solidFill>
                  <a:srgbClr val="000000"/>
                </a:solidFill>
                <a:latin typeface="Aptos"/>
                <a:ea typeface="Aptos"/>
                <a:cs typeface="Aptos"/>
                <a:sym typeface="Aptos"/>
              </a:rPr>
              <a:t>Sin pérdida.</a:t>
            </a:r>
          </a:p>
          <a:p>
            <a:pPr algn="ctr">
              <a:lnSpc>
                <a:spcPts val="4428"/>
              </a:lnSpc>
            </a:pPr>
          </a:p>
          <a:p>
            <a:pPr algn="ctr">
              <a:lnSpc>
                <a:spcPts val="4428"/>
              </a:lnSpc>
              <a:spcBef>
                <a:spcPct val="0"/>
              </a:spcBef>
            </a:pPr>
            <a:r>
              <a:rPr lang="en-US" sz="4100">
                <a:solidFill>
                  <a:srgbClr val="000000"/>
                </a:solidFill>
                <a:latin typeface="Aptos"/>
                <a:ea typeface="Aptos"/>
                <a:cs typeface="Aptos"/>
                <a:sym typeface="Aptos"/>
              </a:rPr>
              <a:t>Información matemática intacta, resultado en nitidez superior y k predecible.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3F0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257300" y="547688"/>
            <a:ext cx="15773400" cy="1988345"/>
            <a:chOff x="0" y="0"/>
            <a:chExt cx="21031200" cy="265112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031200" cy="2651127"/>
            </a:xfrm>
            <a:custGeom>
              <a:avLst/>
              <a:gdLst/>
              <a:ahLst/>
              <a:cxnLst/>
              <a:rect r="r" b="b" t="t" l="l"/>
              <a:pathLst>
                <a:path h="2651127" w="21031200">
                  <a:moveTo>
                    <a:pt x="0" y="0"/>
                  </a:moveTo>
                  <a:lnTo>
                    <a:pt x="21031200" y="0"/>
                  </a:lnTo>
                  <a:lnTo>
                    <a:pt x="21031200" y="2651127"/>
                  </a:lnTo>
                  <a:lnTo>
                    <a:pt x="0" y="2651127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04573" r="0" b="-104573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76200"/>
              <a:ext cx="21031200" cy="257492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020"/>
                </a:lnSpc>
              </a:pPr>
              <a:r>
                <a:rPr lang="en-US" sz="6500">
                  <a:solidFill>
                    <a:srgbClr val="000000"/>
                  </a:solidFill>
                  <a:latin typeface="Aptos"/>
                  <a:ea typeface="Aptos"/>
                  <a:cs typeface="Aptos"/>
                  <a:sym typeface="Aptos"/>
                </a:rPr>
                <a:t>Conclusiones finales: Estructura vs. Energía</a:t>
              </a: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348740" y="2631758"/>
            <a:ext cx="15590520" cy="15263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93"/>
              </a:lnSpc>
            </a:pPr>
            <a:r>
              <a:rPr lang="en-US" sz="3884">
                <a:solidFill>
                  <a:srgbClr val="000000"/>
                </a:solidFill>
                <a:latin typeface="Aptos"/>
                <a:ea typeface="Aptos"/>
                <a:cs typeface="Aptos"/>
                <a:sym typeface="Aptos"/>
              </a:rPr>
              <a:t>Confirmamos que la fase define la estructura de la imagen, mientras que la magnitud define su energía espectral.</a:t>
            </a:r>
          </a:p>
        </p:txBody>
      </p:sp>
      <p:sp>
        <p:nvSpPr>
          <p:cNvPr name="AutoShape 6" id="6"/>
          <p:cNvSpPr/>
          <p:nvPr/>
        </p:nvSpPr>
        <p:spPr>
          <a:xfrm flipV="true">
            <a:off x="1257389" y="2421732"/>
            <a:ext cx="8115300" cy="19050"/>
          </a:xfrm>
          <a:prstGeom prst="line">
            <a:avLst/>
          </a:prstGeom>
          <a:ln cap="flat" w="38100">
            <a:solidFill>
              <a:srgbClr val="11CAA0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7" id="7"/>
          <p:cNvGrpSpPr/>
          <p:nvPr/>
        </p:nvGrpSpPr>
        <p:grpSpPr>
          <a:xfrm rot="0">
            <a:off x="1348740" y="4405732"/>
            <a:ext cx="7561921" cy="3898634"/>
            <a:chOff x="0" y="0"/>
            <a:chExt cx="1991617" cy="1026801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991617" cy="1026801"/>
            </a:xfrm>
            <a:custGeom>
              <a:avLst/>
              <a:gdLst/>
              <a:ahLst/>
              <a:cxnLst/>
              <a:rect r="r" b="b" t="t" l="l"/>
              <a:pathLst>
                <a:path h="1026801" w="1991617">
                  <a:moveTo>
                    <a:pt x="52214" y="0"/>
                  </a:moveTo>
                  <a:lnTo>
                    <a:pt x="1939403" y="0"/>
                  </a:lnTo>
                  <a:cubicBezTo>
                    <a:pt x="1968240" y="0"/>
                    <a:pt x="1991617" y="23377"/>
                    <a:pt x="1991617" y="52214"/>
                  </a:cubicBezTo>
                  <a:lnTo>
                    <a:pt x="1991617" y="974587"/>
                  </a:lnTo>
                  <a:cubicBezTo>
                    <a:pt x="1991617" y="988435"/>
                    <a:pt x="1986116" y="1001716"/>
                    <a:pt x="1976324" y="1011508"/>
                  </a:cubicBezTo>
                  <a:cubicBezTo>
                    <a:pt x="1966532" y="1021300"/>
                    <a:pt x="1953251" y="1026801"/>
                    <a:pt x="1939403" y="1026801"/>
                  </a:cubicBezTo>
                  <a:lnTo>
                    <a:pt x="52214" y="1026801"/>
                  </a:lnTo>
                  <a:cubicBezTo>
                    <a:pt x="38366" y="1026801"/>
                    <a:pt x="25085" y="1021300"/>
                    <a:pt x="15293" y="1011508"/>
                  </a:cubicBezTo>
                  <a:cubicBezTo>
                    <a:pt x="5501" y="1001716"/>
                    <a:pt x="0" y="988435"/>
                    <a:pt x="0" y="974587"/>
                  </a:cubicBezTo>
                  <a:lnTo>
                    <a:pt x="0" y="52214"/>
                  </a:lnTo>
                  <a:cubicBezTo>
                    <a:pt x="0" y="38366"/>
                    <a:pt x="5501" y="25085"/>
                    <a:pt x="15293" y="15293"/>
                  </a:cubicBezTo>
                  <a:cubicBezTo>
                    <a:pt x="25085" y="5501"/>
                    <a:pt x="38366" y="0"/>
                    <a:pt x="52214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991617" cy="106490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9697379" y="4405732"/>
            <a:ext cx="7561921" cy="3898634"/>
            <a:chOff x="0" y="0"/>
            <a:chExt cx="1991617" cy="1026801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991617" cy="1026801"/>
            </a:xfrm>
            <a:custGeom>
              <a:avLst/>
              <a:gdLst/>
              <a:ahLst/>
              <a:cxnLst/>
              <a:rect r="r" b="b" t="t" l="l"/>
              <a:pathLst>
                <a:path h="1026801" w="1991617">
                  <a:moveTo>
                    <a:pt x="52214" y="0"/>
                  </a:moveTo>
                  <a:lnTo>
                    <a:pt x="1939403" y="0"/>
                  </a:lnTo>
                  <a:cubicBezTo>
                    <a:pt x="1968240" y="0"/>
                    <a:pt x="1991617" y="23377"/>
                    <a:pt x="1991617" y="52214"/>
                  </a:cubicBezTo>
                  <a:lnTo>
                    <a:pt x="1991617" y="974587"/>
                  </a:lnTo>
                  <a:cubicBezTo>
                    <a:pt x="1991617" y="988435"/>
                    <a:pt x="1986116" y="1001716"/>
                    <a:pt x="1976324" y="1011508"/>
                  </a:cubicBezTo>
                  <a:cubicBezTo>
                    <a:pt x="1966532" y="1021300"/>
                    <a:pt x="1953251" y="1026801"/>
                    <a:pt x="1939403" y="1026801"/>
                  </a:cubicBezTo>
                  <a:lnTo>
                    <a:pt x="52214" y="1026801"/>
                  </a:lnTo>
                  <a:cubicBezTo>
                    <a:pt x="38366" y="1026801"/>
                    <a:pt x="25085" y="1021300"/>
                    <a:pt x="15293" y="1011508"/>
                  </a:cubicBezTo>
                  <a:cubicBezTo>
                    <a:pt x="5501" y="1001716"/>
                    <a:pt x="0" y="988435"/>
                    <a:pt x="0" y="974587"/>
                  </a:cubicBezTo>
                  <a:lnTo>
                    <a:pt x="0" y="52214"/>
                  </a:lnTo>
                  <a:cubicBezTo>
                    <a:pt x="0" y="38366"/>
                    <a:pt x="5501" y="25085"/>
                    <a:pt x="15293" y="15293"/>
                  </a:cubicBezTo>
                  <a:cubicBezTo>
                    <a:pt x="25085" y="5501"/>
                    <a:pt x="38366" y="0"/>
                    <a:pt x="52214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991617" cy="106490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348740" y="4683792"/>
            <a:ext cx="7561921" cy="32948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588"/>
              </a:lnSpc>
              <a:spcBef>
                <a:spcPct val="0"/>
              </a:spcBef>
            </a:pPr>
            <a:r>
              <a:rPr lang="en-US" b="true" sz="6100">
                <a:solidFill>
                  <a:srgbClr val="005088"/>
                </a:solidFill>
                <a:latin typeface="Aptos Bold"/>
                <a:ea typeface="Aptos Bold"/>
                <a:cs typeface="Aptos Bold"/>
                <a:sym typeface="Aptos Bold"/>
              </a:rPr>
              <a:t>Robustez</a:t>
            </a:r>
          </a:p>
          <a:p>
            <a:pPr algn="ctr">
              <a:lnSpc>
                <a:spcPts val="3240"/>
              </a:lnSpc>
              <a:spcBef>
                <a:spcPct val="0"/>
              </a:spcBef>
            </a:pPr>
          </a:p>
          <a:p>
            <a:pPr algn="ctr">
              <a:lnSpc>
                <a:spcPts val="4104"/>
              </a:lnSpc>
              <a:spcBef>
                <a:spcPct val="0"/>
              </a:spcBef>
            </a:pPr>
            <a:r>
              <a:rPr lang="en-US" sz="3800">
                <a:solidFill>
                  <a:srgbClr val="000000"/>
                </a:solidFill>
                <a:latin typeface="Aptos"/>
                <a:ea typeface="Aptos"/>
                <a:cs typeface="Aptos"/>
                <a:sym typeface="Aptos"/>
              </a:rPr>
              <a:t>La fase contiene la estructura esencial de la imagen, siendo más crítica que la magnitud para el reconocimiento.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9697379" y="4683792"/>
            <a:ext cx="7561921" cy="32948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588"/>
              </a:lnSpc>
            </a:pPr>
            <a:r>
              <a:rPr lang="en-US" sz="6100" b="true">
                <a:solidFill>
                  <a:srgbClr val="005088"/>
                </a:solidFill>
                <a:latin typeface="Aptos Bold"/>
                <a:ea typeface="Aptos Bold"/>
                <a:cs typeface="Aptos Bold"/>
                <a:sym typeface="Aptos Bold"/>
              </a:rPr>
              <a:t>Eficiencia</a:t>
            </a:r>
          </a:p>
          <a:p>
            <a:pPr algn="ctr">
              <a:lnSpc>
                <a:spcPts val="3240"/>
              </a:lnSpc>
              <a:spcBef>
                <a:spcPct val="0"/>
              </a:spcBef>
            </a:pPr>
          </a:p>
          <a:p>
            <a:pPr algn="ctr">
              <a:lnSpc>
                <a:spcPts val="4104"/>
              </a:lnSpc>
              <a:spcBef>
                <a:spcPct val="0"/>
              </a:spcBef>
            </a:pPr>
            <a:r>
              <a:rPr lang="en-US" sz="3800">
                <a:solidFill>
                  <a:srgbClr val="000000"/>
                </a:solidFill>
                <a:latin typeface="Aptos"/>
                <a:ea typeface="Aptos"/>
                <a:cs typeface="Aptos"/>
                <a:sym typeface="Aptos"/>
              </a:rPr>
              <a:t>Las propiedades de Fourier permiten resolver registros complejos (rotacion/zoom) como simples traslaciones lineales.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DAHLp5V8oBs</dc:identifier>
  <dcterms:modified xsi:type="dcterms:W3CDTF">2011-08-01T06:04:30Z</dcterms:modified>
  <cp:revision>1</cp:revision>
  <dc:title>Asignatura: Análisis Numérico Integrantes: Mauricio Acosta, Federico Bleuel, Marcos Bude, Pablo Dellacqua UTN – FRSF | 2026</dc:title>
</cp:coreProperties>
</file>