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18288000" cy="10287000"/>
  <p:notesSz cx="6858000" cy="9144000"/>
  <p:embeddedFontLst>
    <p:embeddedFont>
      <p:font typeface="Aptos Bold" panose="020B0604020202020204" charset="0"/>
      <p:regular r:id="rId13"/>
    </p:embeddedFont>
    <p:embeddedFont>
      <p:font typeface="Cambria Math" panose="02040503050406030204" pitchFamily="18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260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0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309521"/>
            <a:ext cx="13716000" cy="4447918"/>
            <a:chOff x="0" y="0"/>
            <a:chExt cx="18288000" cy="59305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5930557"/>
            </a:xfrm>
            <a:custGeom>
              <a:avLst/>
              <a:gdLst/>
              <a:ahLst/>
              <a:cxnLst/>
              <a:rect l="l" t="t" r="r" b="b"/>
              <a:pathLst>
                <a:path w="18288000" h="5930557">
                  <a:moveTo>
                    <a:pt x="0" y="0"/>
                  </a:moveTo>
                  <a:lnTo>
                    <a:pt x="18288000" y="0"/>
                  </a:lnTo>
                  <a:lnTo>
                    <a:pt x="18288000" y="5930557"/>
                  </a:lnTo>
                  <a:lnTo>
                    <a:pt x="0" y="59305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9826" b="-345"/>
              </a:stretch>
            </a:blipFill>
          </p:spPr>
          <p:txBody>
            <a:bodyPr/>
            <a:lstStyle/>
            <a:p>
              <a:endParaRPr lang="es-A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95250"/>
              <a:ext cx="18288000" cy="5835307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8747"/>
                </a:lnSpc>
              </a:pPr>
              <a:r>
                <a:rPr lang="en-US" sz="8099">
                  <a:solidFill>
                    <a:srgbClr val="F3F0DF"/>
                  </a:solidFill>
                  <a:latin typeface="Aptos"/>
                  <a:ea typeface="Aptos"/>
                  <a:cs typeface="Aptos"/>
                  <a:sym typeface="Aptos"/>
                </a:rPr>
                <a:t>Trabajo práctico 2:</a:t>
              </a:r>
            </a:p>
            <a:p>
              <a:pPr algn="ctr">
                <a:lnSpc>
                  <a:spcPts val="7776"/>
                </a:lnSpc>
              </a:pPr>
              <a:r>
                <a:rPr lang="en-US" sz="7200">
                  <a:solidFill>
                    <a:srgbClr val="F3F0DF"/>
                  </a:solidFill>
                  <a:latin typeface="Aptos"/>
                  <a:ea typeface="Aptos"/>
                  <a:cs typeface="Aptos"/>
                  <a:sym typeface="Aptos"/>
                </a:rPr>
                <a:t>Registro de Imágenes y Análisis de Fase en el Dominio de la Frecuencia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6373749"/>
            <a:ext cx="15512478" cy="2884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sz="3600">
                <a:solidFill>
                  <a:srgbClr val="F3F0DF"/>
                </a:solidFill>
                <a:latin typeface="Aptos"/>
                <a:ea typeface="Aptos"/>
                <a:cs typeface="Aptos"/>
                <a:sym typeface="Aptos"/>
              </a:rPr>
              <a:t>Asignatura: Análisis Numérico</a:t>
            </a:r>
          </a:p>
          <a:p>
            <a:pPr algn="l">
              <a:lnSpc>
                <a:spcPts val="5832"/>
              </a:lnSpc>
            </a:pPr>
            <a:r>
              <a:rPr lang="en-US" sz="3600">
                <a:solidFill>
                  <a:srgbClr val="F3F0DF"/>
                </a:solidFill>
                <a:latin typeface="Aptos"/>
                <a:ea typeface="Aptos"/>
                <a:cs typeface="Aptos"/>
                <a:sym typeface="Aptos"/>
              </a:rPr>
              <a:t>Integrantes: Mauricio Acosta, Federico Bleuel, Marcos Bude, Pablo Dellacqua</a:t>
            </a:r>
          </a:p>
          <a:p>
            <a:pPr algn="l">
              <a:lnSpc>
                <a:spcPts val="5832"/>
              </a:lnSpc>
            </a:pPr>
            <a:endParaRPr lang="en-US" sz="3600">
              <a:solidFill>
                <a:srgbClr val="F3F0DF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5832"/>
              </a:lnSpc>
            </a:pPr>
            <a:r>
              <a:rPr lang="en-US" sz="3600">
                <a:solidFill>
                  <a:srgbClr val="F3F0DF"/>
                </a:solidFill>
                <a:latin typeface="Aptos"/>
                <a:ea typeface="Aptos"/>
                <a:cs typeface="Aptos"/>
                <a:sym typeface="Aptos"/>
              </a:rPr>
              <a:t>UTN – FRSF | 2026</a:t>
            </a:r>
          </a:p>
        </p:txBody>
      </p:sp>
      <p:sp>
        <p:nvSpPr>
          <p:cNvPr id="6" name="AutoShape 6"/>
          <p:cNvSpPr/>
          <p:nvPr/>
        </p:nvSpPr>
        <p:spPr>
          <a:xfrm>
            <a:off x="5897880" y="5143500"/>
            <a:ext cx="6492240" cy="0"/>
          </a:xfrm>
          <a:prstGeom prst="line">
            <a:avLst/>
          </a:prstGeom>
          <a:ln w="38100" cap="flat">
            <a:solidFill>
              <a:srgbClr val="11CA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85989" y="433388"/>
            <a:ext cx="15773400" cy="1988345"/>
            <a:chOff x="0" y="0"/>
            <a:chExt cx="21031200" cy="26511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7"/>
            </a:xfrm>
            <a:custGeom>
              <a:avLst/>
              <a:gdLst/>
              <a:ahLst/>
              <a:cxnLst/>
              <a:rect l="l" t="t" r="r" b="b"/>
              <a:pathLst>
                <a:path w="21031200" h="2651127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  <p:txBody>
            <a:bodyPr/>
            <a:lstStyle/>
            <a:p>
              <a:endParaRPr lang="es-A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66675"/>
              <a:ext cx="21031200" cy="2584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00508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Introducción y Objetivos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48740" y="2546033"/>
            <a:ext cx="15590520" cy="6673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l">
              <a:lnSpc>
                <a:spcPts val="756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El Dominio de la Frecuencia:</a:t>
            </a:r>
          </a:p>
          <a:p>
            <a:pPr marL="1337310" lvl="2" indent="-445770" algn="l">
              <a:lnSpc>
                <a:spcPts val="6480"/>
              </a:lnSpc>
              <a:buFont typeface="Arial"/>
              <a:buChar char="⚬"/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El objetivo es implementar algoritmos de registro de imágenes basados en las propiedades de la Transformada de Fourier.</a:t>
            </a:r>
          </a:p>
          <a:p>
            <a:pPr marL="1337310" lvl="2" indent="-445770" algn="l">
              <a:lnSpc>
                <a:spcPts val="6480"/>
              </a:lnSpc>
              <a:buFont typeface="Arial"/>
              <a:buChar char="⚬"/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 diferencia de los métodos espaciales, el registro en frecuencia permite:</a:t>
            </a:r>
          </a:p>
          <a:p>
            <a:pPr marL="1914525" lvl="3" indent="-478631" algn="l">
              <a:lnSpc>
                <a:spcPts val="5400"/>
              </a:lnSpc>
              <a:buFont typeface="Arial"/>
              <a:buChar char="￭"/>
            </a:pPr>
            <a:r>
              <a:rPr lang="en-US" sz="3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Detección robusta de traslación.</a:t>
            </a:r>
          </a:p>
          <a:p>
            <a:pPr marL="1914525" lvl="3" indent="-478631" algn="l">
              <a:lnSpc>
                <a:spcPts val="5400"/>
              </a:lnSpc>
              <a:buFont typeface="Arial"/>
              <a:buChar char="￭"/>
            </a:pPr>
            <a:r>
              <a:rPr lang="en-US" sz="3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Invariancia ante iluminación.</a:t>
            </a:r>
          </a:p>
          <a:p>
            <a:pPr marL="1914525" lvl="3" indent="-478631" algn="l">
              <a:lnSpc>
                <a:spcPts val="5400"/>
              </a:lnSpc>
              <a:buFont typeface="Arial"/>
              <a:buChar char="￭"/>
            </a:pPr>
            <a:r>
              <a:rPr lang="en-US" sz="3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Eficiencia en rotación y escala.</a:t>
            </a:r>
          </a:p>
        </p:txBody>
      </p:sp>
      <p:sp>
        <p:nvSpPr>
          <p:cNvPr id="6" name="AutoShape 6"/>
          <p:cNvSpPr/>
          <p:nvPr/>
        </p:nvSpPr>
        <p:spPr>
          <a:xfrm flipV="1">
            <a:off x="1257389" y="2421732"/>
            <a:ext cx="8115300" cy="19050"/>
          </a:xfrm>
          <a:prstGeom prst="line">
            <a:avLst/>
          </a:prstGeom>
          <a:ln w="38100" cap="flat">
            <a:solidFill>
              <a:srgbClr val="11CA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5"/>
            <a:chOff x="0" y="0"/>
            <a:chExt cx="21031200" cy="26511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7"/>
            </a:xfrm>
            <a:custGeom>
              <a:avLst/>
              <a:gdLst/>
              <a:ahLst/>
              <a:cxnLst/>
              <a:rect l="l" t="t" r="r" b="b"/>
              <a:pathLst>
                <a:path w="21031200" h="2651127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  <p:txBody>
            <a:bodyPr/>
            <a:lstStyle/>
            <a:p>
              <a:endParaRPr lang="es-A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66675"/>
              <a:ext cx="21031200" cy="2584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00508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Inciso 1: Estimación de Traslación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48740" y="2612708"/>
            <a:ext cx="15590520" cy="6607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l">
              <a:lnSpc>
                <a:spcPts val="6804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Correlación de Fase</a:t>
            </a:r>
          </a:p>
          <a:p>
            <a:pPr marL="1337310" lvl="2" indent="-445770" algn="l">
              <a:lnSpc>
                <a:spcPts val="5832"/>
              </a:lnSpc>
              <a:buFont typeface="Arial"/>
              <a:buChar char="⚬"/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Calculamos las FFTs y el espectro cruzado normalizado para localizar el desplazamiento.</a:t>
            </a:r>
          </a:p>
          <a:p>
            <a:pPr marL="1914525" lvl="3" indent="-478631" algn="l">
              <a:lnSpc>
                <a:spcPts val="4860"/>
              </a:lnSpc>
              <a:buFont typeface="Arial"/>
              <a:buChar char="￭"/>
            </a:pPr>
            <a:r>
              <a:rPr lang="en-US" sz="3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Carga de imágenes f1 y f2.</a:t>
            </a:r>
          </a:p>
          <a:p>
            <a:pPr marL="1914525" lvl="3" indent="-478631" algn="l">
              <a:lnSpc>
                <a:spcPts val="4860"/>
              </a:lnSpc>
              <a:buFont typeface="Arial"/>
              <a:buChar char="￭"/>
            </a:pPr>
            <a:r>
              <a:rPr lang="en-US" sz="3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Normalización por magnitud del espectro.</a:t>
            </a:r>
          </a:p>
          <a:p>
            <a:pPr marL="1914525" lvl="3" indent="-478631" algn="l">
              <a:lnSpc>
                <a:spcPts val="4860"/>
              </a:lnSpc>
              <a:buFont typeface="Arial"/>
              <a:buChar char="￭"/>
            </a:pPr>
            <a:r>
              <a:rPr lang="en-US" sz="3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Localización del pico de correlación.</a:t>
            </a:r>
          </a:p>
          <a:p>
            <a:pPr marL="2297430" lvl="3" indent="-574358" algn="l">
              <a:lnSpc>
                <a:spcPts val="5832"/>
              </a:lnSpc>
            </a:pPr>
            <a:endParaRPr lang="en-US" sz="300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marL="1337310" lvl="2" indent="-445770" algn="l">
              <a:lnSpc>
                <a:spcPts val="5832"/>
              </a:lnSpc>
              <a:buFont typeface="Arial"/>
              <a:buChar char="⚬"/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Resultado: Vector desplazamiento (40,10).</a:t>
            </a:r>
          </a:p>
        </p:txBody>
      </p:sp>
      <p:sp>
        <p:nvSpPr>
          <p:cNvPr id="6" name="AutoShape 6"/>
          <p:cNvSpPr/>
          <p:nvPr/>
        </p:nvSpPr>
        <p:spPr>
          <a:xfrm flipV="1">
            <a:off x="1257389" y="2421732"/>
            <a:ext cx="8115300" cy="19050"/>
          </a:xfrm>
          <a:prstGeom prst="line">
            <a:avLst/>
          </a:prstGeom>
          <a:ln w="38100" cap="flat">
            <a:solidFill>
              <a:srgbClr val="11CA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5"/>
            <a:chOff x="0" y="0"/>
            <a:chExt cx="21031200" cy="26511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7"/>
            </a:xfrm>
            <a:custGeom>
              <a:avLst/>
              <a:gdLst/>
              <a:ahLst/>
              <a:cxnLst/>
              <a:rect l="l" t="t" r="r" b="b"/>
              <a:pathLst>
                <a:path w="21031200" h="2651127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  <p:txBody>
            <a:bodyPr/>
            <a:lstStyle/>
            <a:p>
              <a:endParaRPr lang="es-A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66675"/>
              <a:ext cx="21031200" cy="2584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00508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Invariancia de Magnitud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48740" y="2932662"/>
            <a:ext cx="15590520" cy="6585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Teóricamente, la magnitud del espectro es invariante a traslaciones espaciales.</a:t>
            </a:r>
          </a:p>
          <a:p>
            <a:pPr algn="l">
              <a:lnSpc>
                <a:spcPts val="7560"/>
              </a:lnSpc>
            </a:pPr>
            <a:endParaRPr lang="en-US" sz="420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algn="ctr">
              <a:lnSpc>
                <a:spcPts val="7560"/>
              </a:lnSpc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F(u,v) = |F|∗ e</a:t>
            </a:r>
          </a:p>
          <a:p>
            <a:pPr algn="l">
              <a:lnSpc>
                <a:spcPts val="7560"/>
              </a:lnSpc>
            </a:pPr>
            <a:endParaRPr lang="en-US" sz="420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7560"/>
              </a:lnSpc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Al trasladar, solo cambia la </a:t>
            </a:r>
            <a:r>
              <a:rPr lang="en-US" sz="42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fase</a:t>
            </a: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(φ), mientras que la </a:t>
            </a:r>
            <a:r>
              <a:rPr lang="en-US" sz="42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magnitud</a:t>
            </a: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(|F|) se mantiene constante.</a:t>
            </a:r>
          </a:p>
        </p:txBody>
      </p:sp>
      <p:sp>
        <p:nvSpPr>
          <p:cNvPr id="6" name="AutoShape 6"/>
          <p:cNvSpPr/>
          <p:nvPr/>
        </p:nvSpPr>
        <p:spPr>
          <a:xfrm flipV="1">
            <a:off x="1257389" y="2421732"/>
            <a:ext cx="8115300" cy="19050"/>
          </a:xfrm>
          <a:prstGeom prst="line">
            <a:avLst/>
          </a:prstGeom>
          <a:ln w="38100" cap="flat">
            <a:solidFill>
              <a:srgbClr val="11CA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Box 7"/>
          <p:cNvSpPr txBox="1"/>
          <p:nvPr/>
        </p:nvSpPr>
        <p:spPr>
          <a:xfrm>
            <a:off x="10721516" y="5916271"/>
            <a:ext cx="548283" cy="428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8"/>
              </a:lnSpc>
              <a:spcBef>
                <a:spcPct val="0"/>
              </a:spcBef>
            </a:pPr>
            <a:r>
              <a:rPr lang="en-US" sz="31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j∗φ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363039" y="5374227"/>
            <a:ext cx="7561921" cy="1474234"/>
            <a:chOff x="0" y="0"/>
            <a:chExt cx="1991617" cy="38827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91617" cy="388276"/>
            </a:xfrm>
            <a:custGeom>
              <a:avLst/>
              <a:gdLst/>
              <a:ahLst/>
              <a:cxnLst/>
              <a:rect l="l" t="t" r="r" b="b"/>
              <a:pathLst>
                <a:path w="1991617" h="388276">
                  <a:moveTo>
                    <a:pt x="52214" y="0"/>
                  </a:moveTo>
                  <a:lnTo>
                    <a:pt x="1939403" y="0"/>
                  </a:lnTo>
                  <a:cubicBezTo>
                    <a:pt x="1968240" y="0"/>
                    <a:pt x="1991617" y="23377"/>
                    <a:pt x="1991617" y="52214"/>
                  </a:cubicBezTo>
                  <a:lnTo>
                    <a:pt x="1991617" y="336062"/>
                  </a:lnTo>
                  <a:cubicBezTo>
                    <a:pt x="1991617" y="349910"/>
                    <a:pt x="1986116" y="363191"/>
                    <a:pt x="1976324" y="372983"/>
                  </a:cubicBezTo>
                  <a:cubicBezTo>
                    <a:pt x="1966532" y="382775"/>
                    <a:pt x="1953251" y="388276"/>
                    <a:pt x="1939403" y="388276"/>
                  </a:cubicBezTo>
                  <a:lnTo>
                    <a:pt x="52214" y="388276"/>
                  </a:lnTo>
                  <a:cubicBezTo>
                    <a:pt x="38366" y="388276"/>
                    <a:pt x="25085" y="382775"/>
                    <a:pt x="15293" y="372983"/>
                  </a:cubicBezTo>
                  <a:cubicBezTo>
                    <a:pt x="5501" y="363191"/>
                    <a:pt x="0" y="349910"/>
                    <a:pt x="0" y="336062"/>
                  </a:cubicBezTo>
                  <a:lnTo>
                    <a:pt x="0" y="52214"/>
                  </a:lnTo>
                  <a:cubicBezTo>
                    <a:pt x="0" y="38366"/>
                    <a:pt x="5501" y="25085"/>
                    <a:pt x="15293" y="15293"/>
                  </a:cubicBezTo>
                  <a:cubicBezTo>
                    <a:pt x="25085" y="5501"/>
                    <a:pt x="38366" y="0"/>
                    <a:pt x="5221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991617" cy="4263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363039" y="5684815"/>
            <a:ext cx="7561921" cy="866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96"/>
              </a:lnSpc>
              <a:spcBef>
                <a:spcPct val="0"/>
              </a:spcBef>
            </a:pPr>
            <a:r>
              <a:rPr lang="en-US" sz="6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F(u,v) = |F|∗ 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5"/>
            <a:chOff x="0" y="0"/>
            <a:chExt cx="21031200" cy="26511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7"/>
            </a:xfrm>
            <a:custGeom>
              <a:avLst/>
              <a:gdLst/>
              <a:ahLst/>
              <a:cxnLst/>
              <a:rect l="l" t="t" r="r" b="b"/>
              <a:pathLst>
                <a:path w="21031200" h="2651127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  <p:txBody>
            <a:bodyPr/>
            <a:lstStyle/>
            <a:p>
              <a:endParaRPr lang="es-A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66675"/>
              <a:ext cx="21031200" cy="2584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00508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Exploración de “Fuerza Bruta”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48740" y="3014291"/>
            <a:ext cx="15590520" cy="6435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l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Implementamos un algoritmo que recorre sistemáticamente el dominio espacial para encontrar el vector de traslación.</a:t>
            </a:r>
          </a:p>
          <a:p>
            <a:pPr marL="760095" lvl="1" indent="-380048" algn="l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Complejidad crítica: requiere comparar toda la imagen por cada intento de desplazamiento.</a:t>
            </a:r>
          </a:p>
          <a:p>
            <a:pPr marL="760095" lvl="1" indent="-380048" algn="l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Match: Identifica el mínimo error local (vector 40,10).</a:t>
            </a:r>
          </a:p>
          <a:p>
            <a:pPr marL="760095" lvl="1" indent="-380048" algn="l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Costo computacional: Inviable para imágenes de alta resolución.</a:t>
            </a:r>
          </a:p>
          <a:p>
            <a:pPr marL="760095" lvl="1" indent="-380048" algn="l">
              <a:lnSpc>
                <a:spcPts val="5040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Conclusión: Valida el resultado, pero resalta la superioridad de la FFT.</a:t>
            </a:r>
          </a:p>
        </p:txBody>
      </p:sp>
      <p:sp>
        <p:nvSpPr>
          <p:cNvPr id="6" name="AutoShape 6"/>
          <p:cNvSpPr/>
          <p:nvPr/>
        </p:nvSpPr>
        <p:spPr>
          <a:xfrm flipV="1">
            <a:off x="1257389" y="2421732"/>
            <a:ext cx="8115300" cy="19050"/>
          </a:xfrm>
          <a:prstGeom prst="line">
            <a:avLst/>
          </a:prstGeom>
          <a:ln w="38100" cap="flat">
            <a:solidFill>
              <a:srgbClr val="11CA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5"/>
            <a:chOff x="0" y="0"/>
            <a:chExt cx="21031200" cy="26511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7"/>
            </a:xfrm>
            <a:custGeom>
              <a:avLst/>
              <a:gdLst/>
              <a:ahLst/>
              <a:cxnLst/>
              <a:rect l="l" t="t" r="r" b="b"/>
              <a:pathLst>
                <a:path w="21031200" h="2651127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  <p:txBody>
            <a:bodyPr/>
            <a:lstStyle/>
            <a:p>
              <a:endParaRPr lang="es-A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66675"/>
              <a:ext cx="21031200" cy="2584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00508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Inciso 2: Registro de Rotación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48740" y="2612708"/>
            <a:ext cx="15590520" cy="6607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l">
              <a:lnSpc>
                <a:spcPts val="6804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Mapeo Polar (ρ, θ)</a:t>
            </a:r>
          </a:p>
          <a:p>
            <a:pPr marL="1337310" lvl="2" indent="-445770" algn="l">
              <a:lnSpc>
                <a:spcPts val="5832"/>
              </a:lnSpc>
              <a:buFont typeface="Arial"/>
              <a:buChar char="⚬"/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La rotación espacial se traduce en un desplazamiento lineal en el eje θ del espectro polar.</a:t>
            </a:r>
          </a:p>
          <a:p>
            <a:pPr marL="1914525" lvl="3" indent="-478631" algn="l">
              <a:lnSpc>
                <a:spcPts val="4860"/>
              </a:lnSpc>
              <a:buFont typeface="Arial"/>
              <a:buChar char="￭"/>
            </a:pPr>
            <a:r>
              <a:rPr lang="en-US" sz="3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Conversión de coordenadas cartesianas a polares.</a:t>
            </a:r>
          </a:p>
          <a:p>
            <a:pPr marL="1914525" lvl="3" indent="-478631" algn="l">
              <a:lnSpc>
                <a:spcPts val="4860"/>
              </a:lnSpc>
              <a:buFont typeface="Arial"/>
              <a:buChar char="￭"/>
            </a:pPr>
            <a:r>
              <a:rPr lang="en-US" sz="3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Promediado de magnitudes espectrales.</a:t>
            </a:r>
          </a:p>
          <a:p>
            <a:pPr marL="1914525" lvl="3" indent="-478631" algn="l">
              <a:lnSpc>
                <a:spcPts val="4860"/>
              </a:lnSpc>
              <a:buFont typeface="Arial"/>
              <a:buChar char="￭"/>
            </a:pPr>
            <a:r>
              <a:rPr lang="en-US" sz="3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Resultado: Rotación de 35°.</a:t>
            </a:r>
          </a:p>
          <a:p>
            <a:pPr marL="1337310" lvl="2" indent="-445770" algn="l">
              <a:lnSpc>
                <a:spcPts val="5832"/>
              </a:lnSpc>
              <a:buFont typeface="Arial"/>
              <a:buChar char="⚬"/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Validado mediante rotación sintética de f3 para comprobar que coincide con f4.</a:t>
            </a:r>
          </a:p>
        </p:txBody>
      </p:sp>
      <p:sp>
        <p:nvSpPr>
          <p:cNvPr id="6" name="AutoShape 6"/>
          <p:cNvSpPr/>
          <p:nvPr/>
        </p:nvSpPr>
        <p:spPr>
          <a:xfrm flipV="1">
            <a:off x="1257389" y="2421732"/>
            <a:ext cx="8115300" cy="19050"/>
          </a:xfrm>
          <a:prstGeom prst="line">
            <a:avLst/>
          </a:prstGeom>
          <a:ln w="38100" cap="flat">
            <a:solidFill>
              <a:srgbClr val="11CA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5"/>
            <a:chOff x="0" y="0"/>
            <a:chExt cx="21031200" cy="26511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7"/>
            </a:xfrm>
            <a:custGeom>
              <a:avLst/>
              <a:gdLst/>
              <a:ahLst/>
              <a:cxnLst/>
              <a:rect l="l" t="t" r="r" b="b"/>
              <a:pathLst>
                <a:path w="21031200" h="2651127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  <p:txBody>
            <a:bodyPr/>
            <a:lstStyle/>
            <a:p>
              <a:endParaRPr lang="es-A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66675"/>
              <a:ext cx="21031200" cy="2584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00508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Inciso 3: Registro de Escalamiento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03059" y="2814011"/>
            <a:ext cx="16939260" cy="7163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4250" lvl="1" indent="-372125" algn="l">
              <a:lnSpc>
                <a:spcPts val="5329"/>
              </a:lnSpc>
              <a:buFont typeface="Arial"/>
              <a:buChar char="•"/>
            </a:pPr>
            <a:r>
              <a:rPr lang="en-US" sz="4112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Coordenadas Log-Polares</a:t>
            </a:r>
          </a:p>
          <a:p>
            <a:pPr marL="1357872" lvl="2" indent="-452624" algn="l">
              <a:lnSpc>
                <a:spcPts val="4548"/>
              </a:lnSpc>
              <a:buFont typeface="Arial"/>
              <a:buChar char="⚬"/>
            </a:pPr>
            <a:r>
              <a:rPr lang="en-US" sz="350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El cambio de escala en el espectro se transforma en un desplazamiento lineal</a:t>
            </a:r>
          </a:p>
          <a:p>
            <a:pPr marL="1357595" lvl="2" indent="-452532" algn="ctr">
              <a:lnSpc>
                <a:spcPts val="4548"/>
              </a:lnSpc>
            </a:pPr>
            <a:r>
              <a:rPr lang="en-US" sz="350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ρ=ln⁡(k∙r)=ln⁡(k)+ln⁡(r)</a:t>
            </a:r>
          </a:p>
          <a:p>
            <a:pPr marL="744250" lvl="1" indent="-372125" algn="l">
              <a:lnSpc>
                <a:spcPts val="5329"/>
              </a:lnSpc>
              <a:buFont typeface="Arial"/>
              <a:buChar char="•"/>
            </a:pPr>
            <a:r>
              <a:rPr lang="en-US" sz="4112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Cálculo del Factor de escala</a:t>
            </a:r>
          </a:p>
          <a:p>
            <a:pPr marL="1357872" lvl="2" indent="-452624" algn="l">
              <a:lnSpc>
                <a:spcPts val="4548"/>
              </a:lnSpc>
              <a:buFont typeface="Arial"/>
              <a:buChar char="⚬"/>
            </a:pPr>
            <a:r>
              <a:rPr lang="en-US" sz="350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Se implementó un algoritmo aplicando correlación de fase directamente sobre el mapa log-polar.</a:t>
            </a:r>
          </a:p>
          <a:p>
            <a:pPr marL="1357872" lvl="2" indent="-452624" algn="l">
              <a:lnSpc>
                <a:spcPts val="4548"/>
              </a:lnSpc>
              <a:buFont typeface="Arial"/>
              <a:buChar char="⚬"/>
            </a:pPr>
            <a:r>
              <a:rPr lang="en-US" sz="350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Resultado obtenido: Desplazamiento lineal equivalente a un factor k ≈ 1,2935.</a:t>
            </a:r>
          </a:p>
          <a:p>
            <a:pPr marL="744250" lvl="1" indent="-372125" algn="l">
              <a:lnSpc>
                <a:spcPts val="5329"/>
              </a:lnSpc>
              <a:buFont typeface="Arial"/>
              <a:buChar char="•"/>
            </a:pPr>
            <a:r>
              <a:rPr lang="en-US" sz="4112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Validación del algoritmo</a:t>
            </a:r>
          </a:p>
          <a:p>
            <a:pPr marL="1357872" lvl="2" indent="-452624" algn="l">
              <a:lnSpc>
                <a:spcPts val="4548"/>
              </a:lnSpc>
              <a:buFont typeface="Arial"/>
              <a:buChar char="⚬"/>
            </a:pPr>
            <a:r>
              <a:rPr lang="en-US" sz="350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Se creó un programa de comprobación que multiplica las coordenadas polares por el factor k  (r*k).</a:t>
            </a:r>
          </a:p>
          <a:p>
            <a:pPr marL="1357872" lvl="2" indent="-452624" algn="l">
              <a:lnSpc>
                <a:spcPts val="4548"/>
              </a:lnSpc>
              <a:buFont typeface="Arial"/>
              <a:buChar char="⚬"/>
            </a:pPr>
            <a:r>
              <a:rPr lang="en-US" sz="350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Al escalar la imagen 1 con k=1,2935 se generó una imagen idéntica a la imagen 5, confirmando la precisión del modelo.</a:t>
            </a:r>
          </a:p>
        </p:txBody>
      </p:sp>
      <p:sp>
        <p:nvSpPr>
          <p:cNvPr id="6" name="AutoShape 6"/>
          <p:cNvSpPr/>
          <p:nvPr/>
        </p:nvSpPr>
        <p:spPr>
          <a:xfrm flipV="1">
            <a:off x="1257389" y="2421732"/>
            <a:ext cx="8115300" cy="19050"/>
          </a:xfrm>
          <a:prstGeom prst="line">
            <a:avLst/>
          </a:prstGeom>
          <a:ln w="38100" cap="flat">
            <a:solidFill>
              <a:srgbClr val="11CA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  <p:grpSp>
        <p:nvGrpSpPr>
          <p:cNvPr id="7" name="Group 7"/>
          <p:cNvGrpSpPr/>
          <p:nvPr/>
        </p:nvGrpSpPr>
        <p:grpSpPr>
          <a:xfrm>
            <a:off x="6352605" y="4055382"/>
            <a:ext cx="6040169" cy="679289"/>
            <a:chOff x="0" y="0"/>
            <a:chExt cx="1590826" cy="17890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90826" cy="178907"/>
            </a:xfrm>
            <a:custGeom>
              <a:avLst/>
              <a:gdLst/>
              <a:ahLst/>
              <a:cxnLst/>
              <a:rect l="l" t="t" r="r" b="b"/>
              <a:pathLst>
                <a:path w="1590826" h="178907">
                  <a:moveTo>
                    <a:pt x="65369" y="0"/>
                  </a:moveTo>
                  <a:lnTo>
                    <a:pt x="1525458" y="0"/>
                  </a:lnTo>
                  <a:cubicBezTo>
                    <a:pt x="1561560" y="0"/>
                    <a:pt x="1590826" y="29267"/>
                    <a:pt x="1590826" y="65369"/>
                  </a:cubicBezTo>
                  <a:lnTo>
                    <a:pt x="1590826" y="113539"/>
                  </a:lnTo>
                  <a:cubicBezTo>
                    <a:pt x="1590826" y="149641"/>
                    <a:pt x="1561560" y="178907"/>
                    <a:pt x="1525458" y="178907"/>
                  </a:cubicBezTo>
                  <a:lnTo>
                    <a:pt x="65369" y="178907"/>
                  </a:lnTo>
                  <a:cubicBezTo>
                    <a:pt x="29267" y="178907"/>
                    <a:pt x="0" y="149641"/>
                    <a:pt x="0" y="113539"/>
                  </a:cubicBezTo>
                  <a:lnTo>
                    <a:pt x="0" y="65369"/>
                  </a:lnTo>
                  <a:cubicBezTo>
                    <a:pt x="0" y="29267"/>
                    <a:pt x="29267" y="0"/>
                    <a:pt x="6536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590826" cy="2170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269103" y="4136708"/>
            <a:ext cx="4207173" cy="554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12"/>
              </a:lnSpc>
              <a:spcBef>
                <a:spcPct val="0"/>
              </a:spcBef>
            </a:pPr>
            <a:r>
              <a:rPr lang="en-US" sz="39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ρ=ln⁡(k∙r)=ln⁡(k)+ln⁡(r)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5"/>
            <a:chOff x="0" y="0"/>
            <a:chExt cx="21031200" cy="26511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7"/>
            </a:xfrm>
            <a:custGeom>
              <a:avLst/>
              <a:gdLst/>
              <a:ahLst/>
              <a:cxnLst/>
              <a:rect l="l" t="t" r="r" b="b"/>
              <a:pathLst>
                <a:path w="21031200" h="2651127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  <p:txBody>
            <a:bodyPr/>
            <a:lstStyle/>
            <a:p>
              <a:endParaRPr lang="es-A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66675"/>
              <a:ext cx="21031200" cy="2584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00508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Inciso 4: Coherencia de fase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48739" y="3019841"/>
            <a:ext cx="15590520" cy="4678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l">
              <a:buFont typeface="Arial"/>
              <a:buChar char="•"/>
            </a:pPr>
            <a:r>
              <a:rPr lang="en-US" sz="36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Búsqueda</a:t>
            </a:r>
            <a:r>
              <a:rPr lang="en-US" sz="36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del factor K</a:t>
            </a:r>
          </a:p>
          <a:p>
            <a:pPr marL="1337310" lvl="2" indent="-445770" algn="l">
              <a:buFont typeface="Arial"/>
              <a:buChar char="⚬"/>
            </a:pPr>
            <a:r>
              <a:rPr lang="en-US" sz="28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Reconstruimos</a:t>
            </a:r>
            <a:r>
              <a:rPr lang="en-US" sz="28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la imagen </a:t>
            </a:r>
            <a:r>
              <a:rPr lang="en-US" sz="28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combinando</a:t>
            </a:r>
            <a:r>
              <a:rPr lang="en-US" sz="28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la </a:t>
            </a:r>
            <a:r>
              <a:rPr lang="en-US" sz="28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magnitud</a:t>
            </a:r>
            <a:r>
              <a:rPr lang="en-US" sz="28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espectral</a:t>
            </a:r>
            <a:r>
              <a:rPr lang="en-US" sz="28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de f6 y la </a:t>
            </a:r>
            <a:r>
              <a:rPr lang="en-US" sz="28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fase</a:t>
            </a:r>
            <a:r>
              <a:rPr lang="en-US" sz="28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de f7 </a:t>
            </a:r>
            <a:r>
              <a:rPr lang="en-US" sz="28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alterada</a:t>
            </a:r>
            <a:r>
              <a:rPr lang="en-US" sz="28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por</a:t>
            </a:r>
            <a:r>
              <a:rPr lang="en-US" sz="28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un factor de compression k </a:t>
            </a:r>
            <a:r>
              <a:rPr lang="en-US" sz="28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mediante</a:t>
            </a:r>
            <a:r>
              <a:rPr lang="en-US" sz="28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la </a:t>
            </a:r>
            <a:r>
              <a:rPr lang="en-US" sz="28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siguiente</a:t>
            </a:r>
            <a:r>
              <a:rPr lang="en-US" sz="28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relación</a:t>
            </a:r>
            <a:r>
              <a:rPr lang="en-US" sz="28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fundamental</a:t>
            </a:r>
          </a:p>
          <a:p>
            <a:pPr marL="1337310" lvl="2" indent="-445770" algn="l"/>
            <a:endParaRPr lang="en-US" sz="3200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marL="1337310" lvl="2" indent="-445770" algn="l"/>
            <a:endParaRPr lang="en-US" sz="3200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marL="1337310" lvl="2" indent="-445770" algn="l"/>
            <a:endParaRPr lang="en-US" sz="3200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marL="1337310" lvl="2" indent="-445770" algn="l"/>
            <a:endParaRPr lang="en-US" sz="3200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marL="1337310" lvl="2" indent="-445770" algn="l">
              <a:buFont typeface="Arial"/>
              <a:buChar char="⚬"/>
            </a:pPr>
            <a:r>
              <a:rPr lang="en-US" sz="28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Aplicamos</a:t>
            </a:r>
            <a:r>
              <a:rPr lang="en-US" sz="28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la </a:t>
            </a:r>
            <a:r>
              <a:rPr lang="en-US" sz="28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transformada</a:t>
            </a:r>
            <a:r>
              <a:rPr lang="en-US" sz="28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inversa</a:t>
            </a:r>
            <a:r>
              <a:rPr lang="en-US" sz="28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de Fourier para </a:t>
            </a:r>
            <a:r>
              <a:rPr lang="en-US" sz="28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volver</a:t>
            </a:r>
            <a:r>
              <a:rPr lang="en-US" sz="28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al </a:t>
            </a:r>
            <a:r>
              <a:rPr lang="en-US" sz="28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dominio</a:t>
            </a:r>
            <a:r>
              <a:rPr lang="en-US" sz="28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especial y </a:t>
            </a:r>
            <a:r>
              <a:rPr lang="en-US" sz="28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obtener</a:t>
            </a:r>
            <a:r>
              <a:rPr lang="en-US" sz="28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la imagen </a:t>
            </a:r>
            <a:r>
              <a:rPr lang="en-US" sz="28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reconstruida</a:t>
            </a:r>
            <a:endParaRPr lang="en-US" sz="2800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marL="1337310" lvl="2" indent="-445770" algn="l">
              <a:buFont typeface="Arial"/>
              <a:buChar char="⚬"/>
            </a:pPr>
            <a:r>
              <a:rPr lang="en-US" sz="28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Se </a:t>
            </a:r>
            <a:r>
              <a:rPr lang="en-US" sz="28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implementó</a:t>
            </a:r>
            <a:r>
              <a:rPr lang="en-US" sz="28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una</a:t>
            </a:r>
            <a:r>
              <a:rPr lang="en-US" sz="28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busqueda</a:t>
            </a:r>
            <a:r>
              <a:rPr lang="en-US" sz="28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en</a:t>
            </a:r>
            <a:r>
              <a:rPr lang="en-US" sz="28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2 </a:t>
            </a:r>
            <a:r>
              <a:rPr lang="en-US" sz="28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etapas</a:t>
            </a:r>
            <a:r>
              <a:rPr lang="en-US" sz="28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.</a:t>
            </a:r>
          </a:p>
        </p:txBody>
      </p:sp>
      <p:sp>
        <p:nvSpPr>
          <p:cNvPr id="6" name="AutoShape 6"/>
          <p:cNvSpPr/>
          <p:nvPr/>
        </p:nvSpPr>
        <p:spPr>
          <a:xfrm flipV="1">
            <a:off x="1257389" y="2421732"/>
            <a:ext cx="8115300" cy="19050"/>
          </a:xfrm>
          <a:prstGeom prst="line">
            <a:avLst/>
          </a:prstGeom>
          <a:ln w="38100" cap="flat">
            <a:solidFill>
              <a:srgbClr val="11CA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  <p:grpSp>
        <p:nvGrpSpPr>
          <p:cNvPr id="7" name="Group 7"/>
          <p:cNvGrpSpPr/>
          <p:nvPr/>
        </p:nvGrpSpPr>
        <p:grpSpPr>
          <a:xfrm>
            <a:off x="5840479" y="4851143"/>
            <a:ext cx="6607042" cy="1054357"/>
            <a:chOff x="0" y="0"/>
            <a:chExt cx="1991617" cy="38827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91617" cy="388276"/>
            </a:xfrm>
            <a:custGeom>
              <a:avLst/>
              <a:gdLst/>
              <a:ahLst/>
              <a:cxnLst/>
              <a:rect l="l" t="t" r="r" b="b"/>
              <a:pathLst>
                <a:path w="1991617" h="388276">
                  <a:moveTo>
                    <a:pt x="52214" y="0"/>
                  </a:moveTo>
                  <a:lnTo>
                    <a:pt x="1939403" y="0"/>
                  </a:lnTo>
                  <a:cubicBezTo>
                    <a:pt x="1968240" y="0"/>
                    <a:pt x="1991617" y="23377"/>
                    <a:pt x="1991617" y="52214"/>
                  </a:cubicBezTo>
                  <a:lnTo>
                    <a:pt x="1991617" y="336062"/>
                  </a:lnTo>
                  <a:cubicBezTo>
                    <a:pt x="1991617" y="349910"/>
                    <a:pt x="1986116" y="363191"/>
                    <a:pt x="1976324" y="372983"/>
                  </a:cubicBezTo>
                  <a:cubicBezTo>
                    <a:pt x="1966532" y="382775"/>
                    <a:pt x="1953251" y="388276"/>
                    <a:pt x="1939403" y="388276"/>
                  </a:cubicBezTo>
                  <a:lnTo>
                    <a:pt x="52214" y="388276"/>
                  </a:lnTo>
                  <a:cubicBezTo>
                    <a:pt x="38366" y="388276"/>
                    <a:pt x="25085" y="382775"/>
                    <a:pt x="15293" y="372983"/>
                  </a:cubicBezTo>
                  <a:cubicBezTo>
                    <a:pt x="5501" y="363191"/>
                    <a:pt x="0" y="349910"/>
                    <a:pt x="0" y="336062"/>
                  </a:cubicBezTo>
                  <a:lnTo>
                    <a:pt x="0" y="52214"/>
                  </a:lnTo>
                  <a:cubicBezTo>
                    <a:pt x="0" y="38366"/>
                    <a:pt x="5501" y="25085"/>
                    <a:pt x="15293" y="15293"/>
                  </a:cubicBezTo>
                  <a:cubicBezTo>
                    <a:pt x="25085" y="5501"/>
                    <a:pt x="38366" y="0"/>
                    <a:pt x="5221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s-AR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991617" cy="4263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9AC6385-2398-CF94-FE61-E40B47A4FEF1}"/>
                  </a:ext>
                </a:extLst>
              </p:cNvPr>
              <p:cNvSpPr txBox="1"/>
              <p:nvPr/>
            </p:nvSpPr>
            <p:spPr>
              <a:xfrm>
                <a:off x="5966046" y="5060460"/>
                <a:ext cx="6355907" cy="5322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200" b="0" i="1" smtClean="0">
                          <a:latin typeface="Cambria Math" panose="02040503050406030204" pitchFamily="18" charset="0"/>
                        </a:rPr>
                        <m:t>𝐸𝑠𝑝𝑒𝑐𝑡𝑟𝑜</m:t>
                      </m:r>
                      <m:r>
                        <a:rPr lang="es-A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s-A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3200" b="0" i="1" smtClean="0">
                              <a:latin typeface="Cambria Math" panose="02040503050406030204" pitchFamily="18" charset="0"/>
                            </a:rPr>
                            <m:t>𝐹𝐹𝑇</m:t>
                          </m:r>
                          <m:d>
                            <m:dPr>
                              <m:ctrlPr>
                                <a:rPr lang="es-A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AR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32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s-AR" sz="3200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s-AR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s-A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s-A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s-A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A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s-A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nor/>
                            </m:rPr>
                            <a:rPr lang="es-AR" sz="3200" smtClean="0"/>
                            <m:t>∠</m:t>
                          </m:r>
                          <m:r>
                            <a:rPr lang="es-AR" sz="3200" b="0" i="1" smtClean="0">
                              <a:latin typeface="Cambria Math" panose="02040503050406030204" pitchFamily="18" charset="0"/>
                            </a:rPr>
                            <m:t>𝐹𝐹𝑇</m:t>
                          </m:r>
                          <m:r>
                            <a:rPr lang="es-AR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s-A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3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s-AR" sz="32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  <m:r>
                            <a:rPr lang="es-AR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s-AR" sz="32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9AC6385-2398-CF94-FE61-E40B47A4F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6046" y="5060460"/>
                <a:ext cx="6355907" cy="5322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8875FB-9C68-C86E-9F99-EA55DC90C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ACD11C4-C062-3376-1CB6-819177F2F856}"/>
              </a:ext>
            </a:extLst>
          </p:cNvPr>
          <p:cNvGrpSpPr/>
          <p:nvPr/>
        </p:nvGrpSpPr>
        <p:grpSpPr>
          <a:xfrm>
            <a:off x="1257300" y="547688"/>
            <a:ext cx="15773400" cy="1988345"/>
            <a:chOff x="0" y="0"/>
            <a:chExt cx="21031200" cy="265112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E26E8A6-5E15-45E9-15B6-1C89700429D6}"/>
                </a:ext>
              </a:extLst>
            </p:cNvPr>
            <p:cNvSpPr/>
            <p:nvPr/>
          </p:nvSpPr>
          <p:spPr>
            <a:xfrm>
              <a:off x="0" y="0"/>
              <a:ext cx="21031200" cy="2651127"/>
            </a:xfrm>
            <a:custGeom>
              <a:avLst/>
              <a:gdLst/>
              <a:ahLst/>
              <a:cxnLst/>
              <a:rect l="l" t="t" r="r" b="b"/>
              <a:pathLst>
                <a:path w="21031200" h="2651127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  <p:txBody>
            <a:bodyPr/>
            <a:lstStyle/>
            <a:p>
              <a:endParaRPr lang="es-A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CF25723-4FB3-9CC7-D9BD-9AC3C73D4B49}"/>
                </a:ext>
              </a:extLst>
            </p:cNvPr>
            <p:cNvSpPr txBox="1"/>
            <p:nvPr/>
          </p:nvSpPr>
          <p:spPr>
            <a:xfrm>
              <a:off x="0" y="66675"/>
              <a:ext cx="21031200" cy="2584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 dirty="0" err="1">
                  <a:solidFill>
                    <a:srgbClr val="00508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Algoritmo</a:t>
              </a:r>
              <a:r>
                <a:rPr lang="en-US" sz="6600" b="1" dirty="0">
                  <a:solidFill>
                    <a:srgbClr val="00508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de </a:t>
              </a:r>
              <a:r>
                <a:rPr lang="en-US" sz="6600" b="1" dirty="0" err="1">
                  <a:solidFill>
                    <a:srgbClr val="00508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Búsqueda</a:t>
              </a:r>
              <a:endParaRPr lang="en-US" sz="6600" b="1" dirty="0">
                <a:solidFill>
                  <a:srgbClr val="005088"/>
                </a:solidFill>
                <a:latin typeface="Aptos Bold"/>
                <a:ea typeface="Aptos Bold"/>
                <a:cs typeface="Aptos Bold"/>
                <a:sym typeface="Aptos Bold"/>
              </a:endParaRPr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C74BEAA1-C1F4-FCFE-D427-310843783673}"/>
              </a:ext>
            </a:extLst>
          </p:cNvPr>
          <p:cNvSpPr txBox="1"/>
          <p:nvPr/>
        </p:nvSpPr>
        <p:spPr>
          <a:xfrm>
            <a:off x="1348739" y="3019841"/>
            <a:ext cx="15590520" cy="984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8" algn="l">
              <a:buFont typeface="Arial"/>
              <a:buChar char="•"/>
            </a:pPr>
            <a:r>
              <a:rPr lang="en-US" sz="36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Estrategia</a:t>
            </a:r>
            <a:r>
              <a:rPr lang="en-US" sz="36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en</a:t>
            </a:r>
            <a:r>
              <a:rPr lang="en-US" sz="36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2 </a:t>
            </a:r>
            <a:r>
              <a:rPr lang="en-US" sz="36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etapas</a:t>
            </a:r>
            <a:endParaRPr lang="en-US" sz="3600" dirty="0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marL="1337310" lvl="2" indent="-445770" algn="l">
              <a:buFont typeface="Arial"/>
              <a:buChar char="⚬"/>
            </a:pPr>
            <a:r>
              <a:rPr lang="en-US" sz="28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Para </a:t>
            </a:r>
            <a:r>
              <a:rPr lang="en-US" sz="28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optimizar</a:t>
            </a:r>
            <a:r>
              <a:rPr lang="en-US" sz="28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la </a:t>
            </a:r>
            <a:r>
              <a:rPr lang="en-US" sz="28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eficiencia</a:t>
            </a:r>
            <a:r>
              <a:rPr lang="en-US" sz="28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y la </a:t>
            </a:r>
            <a:r>
              <a:rPr lang="en-US" sz="28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precisión</a:t>
            </a:r>
            <a:r>
              <a:rPr lang="en-US" sz="28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, </a:t>
            </a:r>
            <a:r>
              <a:rPr lang="en-US" sz="28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diseñamos</a:t>
            </a:r>
            <a:r>
              <a:rPr lang="en-US" sz="28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un </a:t>
            </a:r>
            <a:r>
              <a:rPr lang="en-US" sz="28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proceso</a:t>
            </a:r>
            <a:r>
              <a:rPr lang="en-US" sz="28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de </a:t>
            </a:r>
            <a:r>
              <a:rPr lang="en-US" sz="28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búsqueda</a:t>
            </a:r>
            <a:r>
              <a:rPr lang="en-US" sz="28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automática</a:t>
            </a:r>
            <a:r>
              <a:rPr lang="en-US" sz="28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:</a:t>
            </a: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792AE8BA-7838-ED0A-2842-CBE140992393}"/>
              </a:ext>
            </a:extLst>
          </p:cNvPr>
          <p:cNvSpPr/>
          <p:nvPr/>
        </p:nvSpPr>
        <p:spPr>
          <a:xfrm flipV="1">
            <a:off x="1257389" y="2421732"/>
            <a:ext cx="8115300" cy="19050"/>
          </a:xfrm>
          <a:prstGeom prst="line">
            <a:avLst/>
          </a:prstGeom>
          <a:ln w="38100" cap="flat">
            <a:solidFill>
              <a:srgbClr val="11CA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5EABE0-CC0A-9EFF-170D-8C4C2C0C1B8C}"/>
              </a:ext>
            </a:extLst>
          </p:cNvPr>
          <p:cNvSpPr txBox="1"/>
          <p:nvPr/>
        </p:nvSpPr>
        <p:spPr>
          <a:xfrm>
            <a:off x="2705189" y="4488533"/>
            <a:ext cx="13335000" cy="2662139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AR" sz="2800" b="1" dirty="0"/>
              <a:t>Etapa 1: Búsqueda Global</a:t>
            </a:r>
          </a:p>
          <a:p>
            <a:pPr>
              <a:lnSpc>
                <a:spcPct val="150000"/>
              </a:lnSpc>
            </a:pPr>
            <a:r>
              <a:rPr lang="es-AR" sz="2800" dirty="0"/>
              <a:t>Escaneo en un rango Amplio</a:t>
            </a:r>
            <a:r>
              <a:rPr lang="en-US" sz="2800" dirty="0"/>
              <a:t> [0.1,0.5] para </a:t>
            </a:r>
            <a:r>
              <a:rPr lang="en-US" sz="2800" dirty="0" err="1"/>
              <a:t>identificar</a:t>
            </a:r>
            <a:r>
              <a:rPr lang="en-US" sz="2800" dirty="0"/>
              <a:t> la </a:t>
            </a:r>
            <a:r>
              <a:rPr lang="en-US" sz="2800" dirty="0" err="1"/>
              <a:t>regi</a:t>
            </a:r>
            <a:r>
              <a:rPr lang="es-AR" sz="2800" dirty="0" err="1"/>
              <a:t>ón</a:t>
            </a:r>
            <a:r>
              <a:rPr lang="es-AR" sz="2800" dirty="0"/>
              <a:t> de interés.</a:t>
            </a:r>
          </a:p>
          <a:p>
            <a:pPr>
              <a:lnSpc>
                <a:spcPct val="150000"/>
              </a:lnSpc>
            </a:pPr>
            <a:endParaRPr lang="es-AR" sz="2800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AR" sz="2800" b="1" dirty="0"/>
              <a:t>Etapa 2: Búsqueda Fina</a:t>
            </a:r>
          </a:p>
          <a:p>
            <a:pPr lvl="1">
              <a:lnSpc>
                <a:spcPct val="150000"/>
              </a:lnSpc>
            </a:pPr>
            <a:r>
              <a:rPr lang="es-AR" sz="2800" dirty="0"/>
              <a:t>Ajuste de precisión sobre la zona detectada para halar el máximo global de nitidez.</a:t>
            </a:r>
          </a:p>
        </p:txBody>
      </p:sp>
    </p:spTree>
    <p:extLst>
      <p:ext uri="{BB962C8B-B14F-4D97-AF65-F5344CB8AC3E}">
        <p14:creationId xmlns:p14="http://schemas.microsoft.com/office/powerpoint/2010/main" val="2334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5"/>
            <a:chOff x="0" y="0"/>
            <a:chExt cx="21031200" cy="26511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7"/>
            </a:xfrm>
            <a:custGeom>
              <a:avLst/>
              <a:gdLst/>
              <a:ahLst/>
              <a:cxnLst/>
              <a:rect l="l" t="t" r="r" b="b"/>
              <a:pathLst>
                <a:path w="21031200" h="2651127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  <p:txBody>
            <a:bodyPr/>
            <a:lstStyle/>
            <a:p>
              <a:endParaRPr lang="es-A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66675"/>
              <a:ext cx="21031200" cy="2584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00508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Resultados: TIF vs JPG</a:t>
              </a:r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1257389" y="2421732"/>
            <a:ext cx="8115300" cy="19050"/>
          </a:xfrm>
          <a:prstGeom prst="line">
            <a:avLst/>
          </a:prstGeom>
          <a:ln w="38100" cap="flat">
            <a:solidFill>
              <a:srgbClr val="11CA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  <p:grpSp>
        <p:nvGrpSpPr>
          <p:cNvPr id="6" name="Group 6"/>
          <p:cNvGrpSpPr/>
          <p:nvPr/>
        </p:nvGrpSpPr>
        <p:grpSpPr>
          <a:xfrm>
            <a:off x="1257300" y="2784158"/>
            <a:ext cx="7561921" cy="5698801"/>
            <a:chOff x="0" y="0"/>
            <a:chExt cx="1991617" cy="15009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91617" cy="1500919"/>
            </a:xfrm>
            <a:custGeom>
              <a:avLst/>
              <a:gdLst/>
              <a:ahLst/>
              <a:cxnLst/>
              <a:rect l="l" t="t" r="r" b="b"/>
              <a:pathLst>
                <a:path w="1991617" h="1500919">
                  <a:moveTo>
                    <a:pt x="52214" y="0"/>
                  </a:moveTo>
                  <a:lnTo>
                    <a:pt x="1939403" y="0"/>
                  </a:lnTo>
                  <a:cubicBezTo>
                    <a:pt x="1968240" y="0"/>
                    <a:pt x="1991617" y="23377"/>
                    <a:pt x="1991617" y="52214"/>
                  </a:cubicBezTo>
                  <a:lnTo>
                    <a:pt x="1991617" y="1448705"/>
                  </a:lnTo>
                  <a:cubicBezTo>
                    <a:pt x="1991617" y="1462553"/>
                    <a:pt x="1986116" y="1475834"/>
                    <a:pt x="1976324" y="1485626"/>
                  </a:cubicBezTo>
                  <a:cubicBezTo>
                    <a:pt x="1966532" y="1495418"/>
                    <a:pt x="1953251" y="1500919"/>
                    <a:pt x="1939403" y="1500919"/>
                  </a:cubicBezTo>
                  <a:lnTo>
                    <a:pt x="52214" y="1500919"/>
                  </a:lnTo>
                  <a:cubicBezTo>
                    <a:pt x="38366" y="1500919"/>
                    <a:pt x="25085" y="1495418"/>
                    <a:pt x="15293" y="1485626"/>
                  </a:cubicBezTo>
                  <a:cubicBezTo>
                    <a:pt x="5501" y="1475834"/>
                    <a:pt x="0" y="1462553"/>
                    <a:pt x="0" y="1448705"/>
                  </a:cubicBezTo>
                  <a:lnTo>
                    <a:pt x="0" y="52214"/>
                  </a:lnTo>
                  <a:cubicBezTo>
                    <a:pt x="0" y="38366"/>
                    <a:pt x="5501" y="25085"/>
                    <a:pt x="15293" y="15293"/>
                  </a:cubicBezTo>
                  <a:cubicBezTo>
                    <a:pt x="25085" y="5501"/>
                    <a:pt x="38366" y="0"/>
                    <a:pt x="5221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991617" cy="15390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697379" y="2784158"/>
            <a:ext cx="7561921" cy="5698801"/>
            <a:chOff x="0" y="0"/>
            <a:chExt cx="1991617" cy="150091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91617" cy="1500919"/>
            </a:xfrm>
            <a:custGeom>
              <a:avLst/>
              <a:gdLst/>
              <a:ahLst/>
              <a:cxnLst/>
              <a:rect l="l" t="t" r="r" b="b"/>
              <a:pathLst>
                <a:path w="1991617" h="1500919">
                  <a:moveTo>
                    <a:pt x="52214" y="0"/>
                  </a:moveTo>
                  <a:lnTo>
                    <a:pt x="1939403" y="0"/>
                  </a:lnTo>
                  <a:cubicBezTo>
                    <a:pt x="1968240" y="0"/>
                    <a:pt x="1991617" y="23377"/>
                    <a:pt x="1991617" y="52214"/>
                  </a:cubicBezTo>
                  <a:lnTo>
                    <a:pt x="1991617" y="1448705"/>
                  </a:lnTo>
                  <a:cubicBezTo>
                    <a:pt x="1991617" y="1462553"/>
                    <a:pt x="1986116" y="1475834"/>
                    <a:pt x="1976324" y="1485626"/>
                  </a:cubicBezTo>
                  <a:cubicBezTo>
                    <a:pt x="1966532" y="1495418"/>
                    <a:pt x="1953251" y="1500919"/>
                    <a:pt x="1939403" y="1500919"/>
                  </a:cubicBezTo>
                  <a:lnTo>
                    <a:pt x="52214" y="1500919"/>
                  </a:lnTo>
                  <a:cubicBezTo>
                    <a:pt x="38366" y="1500919"/>
                    <a:pt x="25085" y="1495418"/>
                    <a:pt x="15293" y="1485626"/>
                  </a:cubicBezTo>
                  <a:cubicBezTo>
                    <a:pt x="5501" y="1475834"/>
                    <a:pt x="0" y="1462553"/>
                    <a:pt x="0" y="1448705"/>
                  </a:cubicBezTo>
                  <a:lnTo>
                    <a:pt x="0" y="52214"/>
                  </a:lnTo>
                  <a:cubicBezTo>
                    <a:pt x="0" y="38366"/>
                    <a:pt x="5501" y="25085"/>
                    <a:pt x="15293" y="15293"/>
                  </a:cubicBezTo>
                  <a:cubicBezTo>
                    <a:pt x="25085" y="5501"/>
                    <a:pt x="38366" y="0"/>
                    <a:pt x="5221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991617" cy="15390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57300" y="3221266"/>
            <a:ext cx="7561921" cy="299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24"/>
              </a:lnSpc>
            </a:pPr>
            <a:r>
              <a:rPr lang="en-US" sz="5300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Formato JPG</a:t>
            </a:r>
          </a:p>
          <a:p>
            <a:pPr algn="ctr">
              <a:lnSpc>
                <a:spcPts val="4428"/>
              </a:lnSpc>
            </a:pPr>
            <a:r>
              <a:rPr lang="en-US" sz="41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La </a:t>
            </a:r>
            <a:r>
              <a:rPr lang="en-US" sz="41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compresión</a:t>
            </a:r>
            <a:r>
              <a:rPr lang="en-US" sz="41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41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recorta</a:t>
            </a:r>
            <a:r>
              <a:rPr lang="en-US" sz="41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41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frecuencias</a:t>
            </a:r>
            <a:r>
              <a:rPr lang="en-US" sz="41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41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altas</a:t>
            </a:r>
            <a:r>
              <a:rPr lang="en-US" sz="41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, </a:t>
            </a:r>
            <a:r>
              <a:rPr lang="en-US" sz="41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afetando</a:t>
            </a:r>
            <a:r>
              <a:rPr lang="en-US" sz="41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41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agresivamente</a:t>
            </a:r>
            <a:r>
              <a:rPr lang="en-US" sz="41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la </a:t>
            </a:r>
            <a:r>
              <a:rPr lang="en-US" sz="41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fase</a:t>
            </a:r>
            <a:r>
              <a:rPr lang="en-US" sz="41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.</a:t>
            </a:r>
          </a:p>
          <a:p>
            <a:pPr algn="ctr">
              <a:lnSpc>
                <a:spcPts val="4428"/>
              </a:lnSpc>
              <a:spcBef>
                <a:spcPct val="0"/>
              </a:spcBef>
            </a:pPr>
            <a:r>
              <a:rPr lang="en-US" sz="41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Menor </a:t>
            </a:r>
            <a:r>
              <a:rPr lang="en-US" sz="41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nitidez</a:t>
            </a:r>
            <a:r>
              <a:rPr lang="en-US" sz="41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41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máxima</a:t>
            </a:r>
            <a:r>
              <a:rPr lang="en-US" sz="41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97379" y="3221266"/>
            <a:ext cx="7561921" cy="299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24"/>
              </a:lnSpc>
            </a:pPr>
            <a:r>
              <a:rPr lang="en-US" sz="5300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Formato TIF</a:t>
            </a:r>
          </a:p>
          <a:p>
            <a:pPr algn="ctr">
              <a:lnSpc>
                <a:spcPts val="4428"/>
              </a:lnSpc>
            </a:pPr>
            <a:r>
              <a:rPr lang="en-US" sz="41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Sin </a:t>
            </a:r>
            <a:r>
              <a:rPr lang="en-US" sz="41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pérdida</a:t>
            </a:r>
            <a:r>
              <a:rPr lang="en-US" sz="41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.</a:t>
            </a:r>
          </a:p>
          <a:p>
            <a:pPr algn="ctr">
              <a:lnSpc>
                <a:spcPts val="4428"/>
              </a:lnSpc>
              <a:spcBef>
                <a:spcPct val="0"/>
              </a:spcBef>
            </a:pPr>
            <a:r>
              <a:rPr lang="en-US" sz="41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Información</a:t>
            </a:r>
            <a:r>
              <a:rPr lang="en-US" sz="41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41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matemática</a:t>
            </a:r>
            <a:r>
              <a:rPr lang="en-US" sz="41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intacta, </a:t>
            </a:r>
            <a:r>
              <a:rPr lang="en-US" sz="41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resultado</a:t>
            </a:r>
            <a:r>
              <a:rPr lang="en-US" sz="41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41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en</a:t>
            </a:r>
            <a:r>
              <a:rPr lang="en-US" sz="41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41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nitidez</a:t>
            </a:r>
            <a:r>
              <a:rPr lang="en-US" sz="41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superior y k </a:t>
            </a:r>
            <a:r>
              <a:rPr lang="en-US" sz="41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predecible</a:t>
            </a:r>
            <a:r>
              <a:rPr lang="en-US" sz="41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(k ≈ 3.0).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512555-28ED-FAA9-8806-CB16887E8C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0599" y="6213816"/>
            <a:ext cx="2115480" cy="21154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EC7C67C-37F8-9092-68D2-F3DCC024AF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520" y="6213816"/>
            <a:ext cx="2115480" cy="2115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5"/>
            <a:chOff x="0" y="0"/>
            <a:chExt cx="21031200" cy="26511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7"/>
            </a:xfrm>
            <a:custGeom>
              <a:avLst/>
              <a:gdLst/>
              <a:ahLst/>
              <a:cxnLst/>
              <a:rect l="l" t="t" r="r" b="b"/>
              <a:pathLst>
                <a:path w="21031200" h="2651127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4573" b="-104573"/>
              </a:stretch>
            </a:blipFill>
          </p:spPr>
          <p:txBody>
            <a:bodyPr/>
            <a:lstStyle/>
            <a:p>
              <a:endParaRPr lang="es-A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76200"/>
              <a:ext cx="21031200" cy="25749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020"/>
                </a:lnSpc>
              </a:pPr>
              <a:r>
                <a:rPr lang="en-US" sz="65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Conclusiones finales: Estructura vs. Energía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48740" y="2631758"/>
            <a:ext cx="15590520" cy="1526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3"/>
              </a:lnSpc>
            </a:pPr>
            <a:r>
              <a:rPr lang="en-US" sz="388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Confirmamos que la fase define la estructura de la imagen, mientras que la magnitud define su energía espectral.</a:t>
            </a:r>
          </a:p>
        </p:txBody>
      </p:sp>
      <p:sp>
        <p:nvSpPr>
          <p:cNvPr id="6" name="AutoShape 6"/>
          <p:cNvSpPr/>
          <p:nvPr/>
        </p:nvSpPr>
        <p:spPr>
          <a:xfrm flipV="1">
            <a:off x="1257389" y="2421732"/>
            <a:ext cx="8115300" cy="19050"/>
          </a:xfrm>
          <a:prstGeom prst="line">
            <a:avLst/>
          </a:prstGeom>
          <a:ln w="38100" cap="flat">
            <a:solidFill>
              <a:srgbClr val="11CAA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AR"/>
          </a:p>
        </p:txBody>
      </p:sp>
      <p:grpSp>
        <p:nvGrpSpPr>
          <p:cNvPr id="7" name="Group 7"/>
          <p:cNvGrpSpPr/>
          <p:nvPr/>
        </p:nvGrpSpPr>
        <p:grpSpPr>
          <a:xfrm>
            <a:off x="1348740" y="4405732"/>
            <a:ext cx="7561921" cy="3898634"/>
            <a:chOff x="0" y="0"/>
            <a:chExt cx="1991617" cy="102680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91617" cy="1026801"/>
            </a:xfrm>
            <a:custGeom>
              <a:avLst/>
              <a:gdLst/>
              <a:ahLst/>
              <a:cxnLst/>
              <a:rect l="l" t="t" r="r" b="b"/>
              <a:pathLst>
                <a:path w="1991617" h="1026801">
                  <a:moveTo>
                    <a:pt x="52214" y="0"/>
                  </a:moveTo>
                  <a:lnTo>
                    <a:pt x="1939403" y="0"/>
                  </a:lnTo>
                  <a:cubicBezTo>
                    <a:pt x="1968240" y="0"/>
                    <a:pt x="1991617" y="23377"/>
                    <a:pt x="1991617" y="52214"/>
                  </a:cubicBezTo>
                  <a:lnTo>
                    <a:pt x="1991617" y="974587"/>
                  </a:lnTo>
                  <a:cubicBezTo>
                    <a:pt x="1991617" y="988435"/>
                    <a:pt x="1986116" y="1001716"/>
                    <a:pt x="1976324" y="1011508"/>
                  </a:cubicBezTo>
                  <a:cubicBezTo>
                    <a:pt x="1966532" y="1021300"/>
                    <a:pt x="1953251" y="1026801"/>
                    <a:pt x="1939403" y="1026801"/>
                  </a:cubicBezTo>
                  <a:lnTo>
                    <a:pt x="52214" y="1026801"/>
                  </a:lnTo>
                  <a:cubicBezTo>
                    <a:pt x="38366" y="1026801"/>
                    <a:pt x="25085" y="1021300"/>
                    <a:pt x="15293" y="1011508"/>
                  </a:cubicBezTo>
                  <a:cubicBezTo>
                    <a:pt x="5501" y="1001716"/>
                    <a:pt x="0" y="988435"/>
                    <a:pt x="0" y="974587"/>
                  </a:cubicBezTo>
                  <a:lnTo>
                    <a:pt x="0" y="52214"/>
                  </a:lnTo>
                  <a:cubicBezTo>
                    <a:pt x="0" y="38366"/>
                    <a:pt x="5501" y="25085"/>
                    <a:pt x="15293" y="15293"/>
                  </a:cubicBezTo>
                  <a:cubicBezTo>
                    <a:pt x="25085" y="5501"/>
                    <a:pt x="38366" y="0"/>
                    <a:pt x="5221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991617" cy="1064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697379" y="4405732"/>
            <a:ext cx="7561921" cy="3898634"/>
            <a:chOff x="0" y="0"/>
            <a:chExt cx="1991617" cy="102680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91617" cy="1026801"/>
            </a:xfrm>
            <a:custGeom>
              <a:avLst/>
              <a:gdLst/>
              <a:ahLst/>
              <a:cxnLst/>
              <a:rect l="l" t="t" r="r" b="b"/>
              <a:pathLst>
                <a:path w="1991617" h="1026801">
                  <a:moveTo>
                    <a:pt x="52214" y="0"/>
                  </a:moveTo>
                  <a:lnTo>
                    <a:pt x="1939403" y="0"/>
                  </a:lnTo>
                  <a:cubicBezTo>
                    <a:pt x="1968240" y="0"/>
                    <a:pt x="1991617" y="23377"/>
                    <a:pt x="1991617" y="52214"/>
                  </a:cubicBezTo>
                  <a:lnTo>
                    <a:pt x="1991617" y="974587"/>
                  </a:lnTo>
                  <a:cubicBezTo>
                    <a:pt x="1991617" y="988435"/>
                    <a:pt x="1986116" y="1001716"/>
                    <a:pt x="1976324" y="1011508"/>
                  </a:cubicBezTo>
                  <a:cubicBezTo>
                    <a:pt x="1966532" y="1021300"/>
                    <a:pt x="1953251" y="1026801"/>
                    <a:pt x="1939403" y="1026801"/>
                  </a:cubicBezTo>
                  <a:lnTo>
                    <a:pt x="52214" y="1026801"/>
                  </a:lnTo>
                  <a:cubicBezTo>
                    <a:pt x="38366" y="1026801"/>
                    <a:pt x="25085" y="1021300"/>
                    <a:pt x="15293" y="1011508"/>
                  </a:cubicBezTo>
                  <a:cubicBezTo>
                    <a:pt x="5501" y="1001716"/>
                    <a:pt x="0" y="988435"/>
                    <a:pt x="0" y="974587"/>
                  </a:cubicBezTo>
                  <a:lnTo>
                    <a:pt x="0" y="52214"/>
                  </a:lnTo>
                  <a:cubicBezTo>
                    <a:pt x="0" y="38366"/>
                    <a:pt x="5501" y="25085"/>
                    <a:pt x="15293" y="15293"/>
                  </a:cubicBezTo>
                  <a:cubicBezTo>
                    <a:pt x="25085" y="5501"/>
                    <a:pt x="38366" y="0"/>
                    <a:pt x="5221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991617" cy="1064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48740" y="4683792"/>
            <a:ext cx="7561921" cy="3294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8"/>
              </a:lnSpc>
              <a:spcBef>
                <a:spcPct val="0"/>
              </a:spcBef>
            </a:pPr>
            <a:r>
              <a:rPr lang="en-US" sz="6100" b="1" dirty="0" err="1">
                <a:solidFill>
                  <a:srgbClr val="005088"/>
                </a:solidFill>
                <a:latin typeface="Aptos Bold"/>
                <a:ea typeface="Aptos Bold"/>
                <a:cs typeface="Aptos Bold"/>
                <a:sym typeface="Aptos Bold"/>
              </a:rPr>
              <a:t>Robustez</a:t>
            </a:r>
            <a:endParaRPr lang="en-US" sz="6100" b="1" dirty="0">
              <a:solidFill>
                <a:srgbClr val="005088"/>
              </a:solidFill>
              <a:latin typeface="Aptos Bold"/>
              <a:ea typeface="Aptos Bold"/>
              <a:cs typeface="Aptos Bold"/>
              <a:sym typeface="Aptos Bold"/>
            </a:endParaRPr>
          </a:p>
          <a:p>
            <a:pPr algn="ctr">
              <a:lnSpc>
                <a:spcPts val="3240"/>
              </a:lnSpc>
              <a:spcBef>
                <a:spcPct val="0"/>
              </a:spcBef>
            </a:pPr>
            <a:endParaRPr lang="en-US" sz="6100" b="1" dirty="0">
              <a:solidFill>
                <a:srgbClr val="005088"/>
              </a:solidFill>
              <a:latin typeface="Aptos Bold"/>
              <a:ea typeface="Aptos Bold"/>
              <a:cs typeface="Aptos Bold"/>
              <a:sym typeface="Aptos Bold"/>
            </a:endParaRPr>
          </a:p>
          <a:p>
            <a:pPr algn="ctr">
              <a:lnSpc>
                <a:spcPts val="4104"/>
              </a:lnSpc>
              <a:spcBef>
                <a:spcPct val="0"/>
              </a:spcBef>
            </a:pPr>
            <a:r>
              <a:rPr lang="en-US" sz="38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La </a:t>
            </a:r>
            <a:r>
              <a:rPr lang="en-US" sz="38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fase</a:t>
            </a:r>
            <a:r>
              <a:rPr lang="en-US" sz="38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38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contiene</a:t>
            </a:r>
            <a:r>
              <a:rPr lang="en-US" sz="38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la </a:t>
            </a:r>
            <a:r>
              <a:rPr lang="en-US" sz="38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estructura</a:t>
            </a:r>
            <a:r>
              <a:rPr lang="en-US" sz="38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38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esencial</a:t>
            </a:r>
            <a:r>
              <a:rPr lang="en-US" sz="38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de la imagen, </a:t>
            </a:r>
            <a:r>
              <a:rPr lang="en-US" sz="38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siendo</a:t>
            </a:r>
            <a:r>
              <a:rPr lang="en-US" sz="38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38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más</a:t>
            </a:r>
            <a:r>
              <a:rPr lang="en-US" sz="38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38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crítica</a:t>
            </a:r>
            <a:r>
              <a:rPr lang="en-US" sz="38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38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que</a:t>
            </a:r>
            <a:r>
              <a:rPr lang="en-US" sz="38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la </a:t>
            </a:r>
            <a:r>
              <a:rPr lang="en-US" sz="38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magnitud</a:t>
            </a:r>
            <a:r>
              <a:rPr lang="en-US" sz="38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para </a:t>
            </a:r>
            <a:r>
              <a:rPr lang="en-US" sz="38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el</a:t>
            </a:r>
            <a:r>
              <a:rPr lang="en-US" sz="38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3800" dirty="0" err="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reconocimiento</a:t>
            </a:r>
            <a:r>
              <a:rPr lang="en-US" sz="38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97379" y="4683792"/>
            <a:ext cx="7561921" cy="3294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8"/>
              </a:lnSpc>
            </a:pPr>
            <a:r>
              <a:rPr lang="en-US" sz="6100" b="1">
                <a:solidFill>
                  <a:srgbClr val="005088"/>
                </a:solidFill>
                <a:latin typeface="Aptos Bold"/>
                <a:ea typeface="Aptos Bold"/>
                <a:cs typeface="Aptos Bold"/>
                <a:sym typeface="Aptos Bold"/>
              </a:rPr>
              <a:t>Eficiencia</a:t>
            </a:r>
          </a:p>
          <a:p>
            <a:pPr algn="ctr">
              <a:lnSpc>
                <a:spcPts val="3240"/>
              </a:lnSpc>
              <a:spcBef>
                <a:spcPct val="0"/>
              </a:spcBef>
            </a:pPr>
            <a:endParaRPr lang="en-US" sz="6100" b="1">
              <a:solidFill>
                <a:srgbClr val="005088"/>
              </a:solidFill>
              <a:latin typeface="Aptos Bold"/>
              <a:ea typeface="Aptos Bold"/>
              <a:cs typeface="Aptos Bold"/>
              <a:sym typeface="Aptos Bold"/>
            </a:endParaRPr>
          </a:p>
          <a:p>
            <a:pPr algn="ctr">
              <a:lnSpc>
                <a:spcPts val="4104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Las propiedades de Fourier permiten resolver registros complejos (rotacion/zoom) como simples traslaciones lineales.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717</Words>
  <Application>Microsoft Office PowerPoint</Application>
  <PresentationFormat>Custom</PresentationFormat>
  <Paragraphs>86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Bold</vt:lpstr>
      <vt:lpstr>Arial</vt:lpstr>
      <vt:lpstr>Cambria Math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Asignatura: Análisis Numérico Integrantes: Mauricio Acosta, Federico Bleuel, Marcos Bude, Pablo Dellacqua UTN – FRSF | 2026</dc:title>
  <dc:creator>Mauricio Acosta</dc:creator>
  <cp:lastModifiedBy>Mauricio Nicolas Acosta</cp:lastModifiedBy>
  <cp:revision>2</cp:revision>
  <dcterms:created xsi:type="dcterms:W3CDTF">2006-08-16T00:00:00Z</dcterms:created>
  <dcterms:modified xsi:type="dcterms:W3CDTF">2026-06-05T19:26:12Z</dcterms:modified>
  <dc:identifier>DAHLp5V8oBs</dc:identifier>
</cp:coreProperties>
</file>