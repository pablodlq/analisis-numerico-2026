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3CF7A-7185-37BC-79C9-B5E8A1A146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3974FD-76B8-2CBB-8A57-744A23974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E18C6-181A-1B82-6677-8DC52CF7C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998CA-421D-43FE-8FB1-62717391C232}" type="datetimeFigureOut">
              <a:rPr lang="es-AR" smtClean="0"/>
              <a:t>3/6/2026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B0773-C74E-E3A3-D793-AA506218E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A47CA-5AAD-09DC-B75D-903412CC9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F6E2-54B3-4813-9C7C-DCA9A0A079D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06250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D7688-4935-2CA8-348C-BFD0E22E3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65A16-525C-767B-7411-0270F7EF7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A66CB-62CF-1E5B-7353-837D452D2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998CA-421D-43FE-8FB1-62717391C232}" type="datetimeFigureOut">
              <a:rPr lang="es-AR" smtClean="0"/>
              <a:t>3/6/2026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25F0A-C46E-A265-E1CF-ADEB8D051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510B2-0A4F-F26C-D6C5-6A335F201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F6E2-54B3-4813-9C7C-DCA9A0A079D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64903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F98EF-DD66-3B26-742F-A27C74D2B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718DF-8ABF-839B-F130-86563202A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C9AB3-21F7-2F28-D2DB-5BCB5F677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998CA-421D-43FE-8FB1-62717391C232}" type="datetimeFigureOut">
              <a:rPr lang="es-AR" smtClean="0"/>
              <a:t>3/6/2026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9B183-65CF-4121-92B1-77D4DE7E4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85B2-161E-5FC3-1802-8CB424028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F6E2-54B3-4813-9C7C-DCA9A0A079D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28034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2F912-8545-AE87-FB28-B6A907E94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99F81-CA99-C898-A968-571D3E2440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560BA-F45A-7B74-FCB2-01F886429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4A46E2-947F-9141-EBE2-05979D85F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998CA-421D-43FE-8FB1-62717391C232}" type="datetimeFigureOut">
              <a:rPr lang="es-AR" smtClean="0"/>
              <a:t>3/6/2026</a:t>
            </a:fld>
            <a:endParaRPr lang="es-A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F51DE-1A4F-7327-4CCF-54E48C34F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9E60C-F7F3-F757-E13E-933F4364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F6E2-54B3-4813-9C7C-DCA9A0A079D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36736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65396-2265-BEED-E145-5BC141623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19483-C252-2FC8-D782-E8F8C61D0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46736-5914-5667-4C67-561A3D626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59B4F6-3535-DFDC-9B32-EA6F088F9A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88F2C-1993-81D1-C119-6B09FCB543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EED5EC-3060-942B-BF92-170496F34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998CA-421D-43FE-8FB1-62717391C232}" type="datetimeFigureOut">
              <a:rPr lang="es-AR" smtClean="0"/>
              <a:t>3/6/2026</a:t>
            </a:fld>
            <a:endParaRPr lang="es-A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6B8738-DA7E-E1CD-C144-B108FF7E5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443C86-F8F9-ED6F-673C-0164BB0D6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F6E2-54B3-4813-9C7C-DCA9A0A079D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50604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17B31-BE72-B212-43AA-836F6DA9C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CCCB33-A93A-7261-769F-1F9F706C5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998CA-421D-43FE-8FB1-62717391C232}" type="datetimeFigureOut">
              <a:rPr lang="es-AR" smtClean="0"/>
              <a:t>3/6/2026</a:t>
            </a:fld>
            <a:endParaRPr lang="es-A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4ACA47-76A8-0761-A63E-6729133AF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A9232A-6010-60CE-6C2E-99771D17D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F6E2-54B3-4813-9C7C-DCA9A0A079D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1122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91C48A-AF93-8D31-2AB7-38F6DE7B9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998CA-421D-43FE-8FB1-62717391C232}" type="datetimeFigureOut">
              <a:rPr lang="es-AR" smtClean="0"/>
              <a:t>3/6/2026</a:t>
            </a:fld>
            <a:endParaRPr lang="es-A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1C69B7-5839-69F5-BA51-F6E6AB459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CCEA5-923F-57A1-70CD-D51DCCECA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F6E2-54B3-4813-9C7C-DCA9A0A079D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35077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7E554-0697-5780-1ED9-1D579EE0B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FE656-857E-CEDE-BC5D-DB327FC46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ABD8C-804C-A4F7-CC4B-C84815B29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220AC-DCE6-1AFD-E9CA-CD04779E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998CA-421D-43FE-8FB1-62717391C232}" type="datetimeFigureOut">
              <a:rPr lang="es-AR" smtClean="0"/>
              <a:t>3/6/2026</a:t>
            </a:fld>
            <a:endParaRPr lang="es-A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B3B4B-E846-9466-A95F-071CB3F63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F19BB-1BD3-324E-BD62-3885B031F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F6E2-54B3-4813-9C7C-DCA9A0A079D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8942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E7B9B-B648-3470-A950-4986267FD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0E49ED-4284-47A1-DAF9-BA5FFA4D0B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3906F-C340-43C3-8147-730BD5036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067F0-79F0-FE07-6B36-CB8D7DBC2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998CA-421D-43FE-8FB1-62717391C232}" type="datetimeFigureOut">
              <a:rPr lang="es-AR" smtClean="0"/>
              <a:t>3/6/2026</a:t>
            </a:fld>
            <a:endParaRPr lang="es-A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5B151-872F-A2D7-7FDB-256744C0F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A7D79-3CD9-057C-8162-61C5EE26B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F6E2-54B3-4813-9C7C-DCA9A0A079D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57642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D5074-0C57-26AF-7542-94696A872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E0C2A4-7074-B85C-3266-50F105135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10B52-730C-7304-F86A-3F70EC0D5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998CA-421D-43FE-8FB1-62717391C232}" type="datetimeFigureOut">
              <a:rPr lang="es-AR" smtClean="0"/>
              <a:t>3/6/2026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BDFC0-1E51-F65B-352E-FA7ACD7D0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85B7F-65E3-152F-19C1-BC0673BC3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F6E2-54B3-4813-9C7C-DCA9A0A079D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84825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0EBE2E-0059-5734-B71D-F1AB3CDED9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FB94D-FCC2-4BBA-C819-2052D4DBD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9A5D1-67A9-68BD-2E25-B7108BCFA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998CA-421D-43FE-8FB1-62717391C232}" type="datetimeFigureOut">
              <a:rPr lang="es-AR" smtClean="0"/>
              <a:t>3/6/2026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CB448-1C8D-5CD9-9C3A-DEAB2B650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5C2A3-B1B8-2B4E-9314-AD9116B4D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F6E2-54B3-4813-9C7C-DCA9A0A079D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50250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D39EA5-BA15-6309-9A9C-B8D17816A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C0D1B-E474-4084-C387-6B183ACF6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9927C-D9AA-CBDE-17EA-BDC7EFA231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A998CA-421D-43FE-8FB1-62717391C232}" type="datetimeFigureOut">
              <a:rPr lang="es-AR" smtClean="0"/>
              <a:t>3/6/2026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4810F-A328-7199-376B-E06081330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CCD9D-2CD9-7097-B6BD-9C0DD2E445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BF6E2-54B3-4813-9C7C-DCA9A0A079D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61734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BABA2-804C-FD76-00CE-CB44282E2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3658"/>
            <a:ext cx="9144000" cy="2387600"/>
          </a:xfrm>
        </p:spPr>
        <p:txBody>
          <a:bodyPr>
            <a:noAutofit/>
          </a:bodyPr>
          <a:lstStyle/>
          <a:p>
            <a:r>
              <a:rPr lang="es-AR" sz="4800" dirty="0"/>
              <a:t>Trabajo práctico 2:</a:t>
            </a:r>
            <a:br>
              <a:rPr lang="es-AR" sz="4800" dirty="0"/>
            </a:br>
            <a:r>
              <a:rPr lang="es-AR" sz="4800" dirty="0"/>
              <a:t>Registro de Imágenes y Análisis de Fase en el Dominio de la Frecuencia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C63D7B-B35D-1F00-F6AF-494B4F9300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2154"/>
            <a:ext cx="9144000" cy="3027033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50000"/>
              </a:lnSpc>
            </a:pPr>
            <a:r>
              <a:rPr lang="es-AR" dirty="0"/>
              <a:t>Asignatura: Análisis Numérico</a:t>
            </a:r>
          </a:p>
          <a:p>
            <a:pPr algn="l">
              <a:lnSpc>
                <a:spcPct val="150000"/>
              </a:lnSpc>
            </a:pPr>
            <a:r>
              <a:rPr lang="es-AR" dirty="0"/>
              <a:t>Integrantes: Mauricio Acosta, Federico Bleuel, Marcos </a:t>
            </a:r>
            <a:r>
              <a:rPr lang="es-AR" dirty="0" err="1"/>
              <a:t>Bude</a:t>
            </a:r>
            <a:r>
              <a:rPr lang="es-AR" dirty="0"/>
              <a:t>, Pablo Dellacqua</a:t>
            </a:r>
          </a:p>
          <a:p>
            <a:pPr algn="l">
              <a:lnSpc>
                <a:spcPct val="150000"/>
              </a:lnSpc>
            </a:pPr>
            <a:r>
              <a:rPr lang="es-AR" dirty="0"/>
              <a:t>UTN – FRSF</a:t>
            </a:r>
          </a:p>
          <a:p>
            <a:pPr algn="l">
              <a:lnSpc>
                <a:spcPct val="150000"/>
              </a:lnSpc>
            </a:pPr>
            <a:r>
              <a:rPr lang="es-AR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139669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4C61-B86D-6D1C-D668-70C91F85B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Introducción y Objetivos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B3D7B-052B-48B6-C899-6AF82FEC1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s-AR" dirty="0"/>
              <a:t>El Dominio de la Frecuencia:</a:t>
            </a:r>
          </a:p>
          <a:p>
            <a:pPr lvl="1">
              <a:lnSpc>
                <a:spcPct val="150000"/>
              </a:lnSpc>
            </a:pPr>
            <a:r>
              <a:rPr lang="es-AR" dirty="0"/>
              <a:t>El objetivo es implementar algoritmos de registro de imágenes basados en las propiedades de la Transformada de Fourier.</a:t>
            </a:r>
          </a:p>
          <a:p>
            <a:pPr lvl="1">
              <a:lnSpc>
                <a:spcPct val="150000"/>
              </a:lnSpc>
            </a:pPr>
            <a:r>
              <a:rPr lang="es-AR" dirty="0"/>
              <a:t>A diferencia de los métodos espaciales, el registro en frecuencia permite:</a:t>
            </a:r>
          </a:p>
          <a:p>
            <a:pPr lvl="2">
              <a:lnSpc>
                <a:spcPct val="150000"/>
              </a:lnSpc>
            </a:pPr>
            <a:r>
              <a:rPr lang="es-AR" dirty="0"/>
              <a:t>Detección robusta de traslación.</a:t>
            </a:r>
          </a:p>
          <a:p>
            <a:pPr lvl="2">
              <a:lnSpc>
                <a:spcPct val="150000"/>
              </a:lnSpc>
            </a:pPr>
            <a:r>
              <a:rPr lang="es-AR" dirty="0"/>
              <a:t>Invariancia ante iluminación.</a:t>
            </a:r>
          </a:p>
          <a:p>
            <a:pPr lvl="2">
              <a:lnSpc>
                <a:spcPct val="150000"/>
              </a:lnSpc>
            </a:pPr>
            <a:r>
              <a:rPr lang="es-AR" dirty="0"/>
              <a:t>Eficiencia en rotación y escala.</a:t>
            </a:r>
          </a:p>
        </p:txBody>
      </p:sp>
    </p:spTree>
    <p:extLst>
      <p:ext uri="{BB962C8B-B14F-4D97-AF65-F5344CB8AC3E}">
        <p14:creationId xmlns:p14="http://schemas.microsoft.com/office/powerpoint/2010/main" val="4028744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72CF-774D-1628-BF4B-1E03E2E5C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Inciso 1: Estimación de Traslación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D9E9B-301D-838C-9684-DF4BBFEDB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s-AR" dirty="0"/>
              <a:t>Correlación de Fase</a:t>
            </a:r>
          </a:p>
          <a:p>
            <a:pPr lvl="1">
              <a:lnSpc>
                <a:spcPct val="150000"/>
              </a:lnSpc>
            </a:pPr>
            <a:r>
              <a:rPr lang="es-AR" dirty="0"/>
              <a:t>Calculamos las </a:t>
            </a:r>
            <a:r>
              <a:rPr lang="es-AR" dirty="0" err="1"/>
              <a:t>FFTs</a:t>
            </a:r>
            <a:r>
              <a:rPr lang="es-AR" dirty="0"/>
              <a:t> y el espectro cruzado normalizado para localizar el desplazamiento.</a:t>
            </a:r>
          </a:p>
          <a:p>
            <a:pPr lvl="2">
              <a:lnSpc>
                <a:spcPct val="150000"/>
              </a:lnSpc>
            </a:pPr>
            <a:r>
              <a:rPr lang="es-AR" dirty="0"/>
              <a:t>Carga de imágenes f1 y f2.</a:t>
            </a:r>
          </a:p>
          <a:p>
            <a:pPr lvl="2">
              <a:lnSpc>
                <a:spcPct val="150000"/>
              </a:lnSpc>
            </a:pPr>
            <a:r>
              <a:rPr lang="es-AR" dirty="0"/>
              <a:t>Normalización por magnitud del espectro.</a:t>
            </a:r>
          </a:p>
          <a:p>
            <a:pPr lvl="2">
              <a:lnSpc>
                <a:spcPct val="150000"/>
              </a:lnSpc>
            </a:pPr>
            <a:r>
              <a:rPr lang="es-AR" dirty="0"/>
              <a:t>Localización del pico de correlación.</a:t>
            </a:r>
          </a:p>
          <a:p>
            <a:pPr lvl="2">
              <a:lnSpc>
                <a:spcPct val="150000"/>
              </a:lnSpc>
            </a:pPr>
            <a:endParaRPr lang="es-AR" dirty="0"/>
          </a:p>
          <a:p>
            <a:pPr lvl="1">
              <a:lnSpc>
                <a:spcPct val="150000"/>
              </a:lnSpc>
            </a:pPr>
            <a:r>
              <a:rPr lang="es-AR" dirty="0"/>
              <a:t>Resultado: Vector desplazamiento (40,10).</a:t>
            </a:r>
          </a:p>
        </p:txBody>
      </p:sp>
    </p:spTree>
    <p:extLst>
      <p:ext uri="{BB962C8B-B14F-4D97-AF65-F5344CB8AC3E}">
        <p14:creationId xmlns:p14="http://schemas.microsoft.com/office/powerpoint/2010/main" val="2448881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11BE-58E1-5445-675D-35D420671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Invariancia de Magnitud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FCE0F6-0821-A2FB-420E-1C1F3E3A29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83376"/>
                <a:ext cx="10515600" cy="4351338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s-AR" dirty="0"/>
                  <a:t>Teóricamente, la magnitud del espectro es invariante a traslaciones espaciales.</a:t>
                </a:r>
                <a:endParaRPr lang="es-AR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AR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lang="es-AR"/>
                        <m:t>(</m:t>
                      </m:r>
                      <m:r>
                        <m:rPr>
                          <m:nor/>
                        </m:rPr>
                        <a:rPr lang="es-AR"/>
                        <m:t>𝑢</m:t>
                      </m:r>
                      <m:r>
                        <m:rPr>
                          <m:nor/>
                        </m:rPr>
                        <a:rPr lang="es-AR"/>
                        <m:t>,</m:t>
                      </m:r>
                      <m:r>
                        <m:rPr>
                          <m:nor/>
                        </m:rPr>
                        <a:rPr lang="es-AR"/>
                        <m:t>𝑣</m:t>
                      </m:r>
                      <m:r>
                        <m:rPr>
                          <m:nor/>
                        </m:rPr>
                        <a:rPr lang="es-AR"/>
                        <m:t>) = |</m:t>
                      </m:r>
                      <m:r>
                        <m:rPr>
                          <m:nor/>
                        </m:rPr>
                        <a:rPr lang="es-AR"/>
                        <m:t>𝐹</m:t>
                      </m:r>
                      <m:r>
                        <m:rPr>
                          <m:nor/>
                        </m:rPr>
                        <a:rPr lang="es-AR"/>
                        <m:t>|∗</m:t>
                      </m:r>
                      <m:sSup>
                        <m:sSupPr>
                          <m:ctrlPr>
                            <a:rPr lang="es-A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sup>
                      </m:sSup>
                    </m:oMath>
                  </m:oMathPara>
                </a14:m>
                <a:endParaRPr lang="es-AR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s-AR" dirty="0"/>
                  <a:t>Al trasladar, solo cambia la </a:t>
                </a:r>
                <a:r>
                  <a:rPr lang="es-AR" b="1" dirty="0"/>
                  <a:t>fase</a:t>
                </a:r>
                <a:r>
                  <a:rPr lang="es-AR" dirty="0"/>
                  <a:t> (</a:t>
                </a:r>
                <a:r>
                  <a:rPr lang="es-AR" b="0" i="0" dirty="0">
                    <a:effectLst/>
                    <a:latin typeface="DM Sans" pitchFamily="2" charset="0"/>
                  </a:rPr>
                  <a:t>φ</a:t>
                </a:r>
                <a:r>
                  <a:rPr lang="es-AR" dirty="0"/>
                  <a:t>), mientras que la </a:t>
                </a:r>
                <a:r>
                  <a:rPr lang="es-AR" b="1" dirty="0"/>
                  <a:t>magnitud</a:t>
                </a:r>
                <a:r>
                  <a:rPr lang="es-AR" dirty="0"/>
                  <a:t> (|F|) se mantiene constante.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FCE0F6-0821-A2FB-420E-1C1F3E3A29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83376"/>
                <a:ext cx="10515600" cy="4351338"/>
              </a:xfrm>
              <a:blipFill>
                <a:blip r:embed="rId2"/>
                <a:stretch>
                  <a:fillRect l="-1217" r="-150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2322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73170-7A81-5229-2C1F-2AB385A61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Exploración de “Fuerza Bruta”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BA2C3-F9ED-71C3-7533-84C43D7B2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9048"/>
            <a:ext cx="10515600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s-AR" dirty="0"/>
              <a:t>Implementamos un algoritmo que recorre sistemáticamente el dominio espacial para encontrar el vector de traslación.</a:t>
            </a:r>
          </a:p>
          <a:p>
            <a:pPr>
              <a:lnSpc>
                <a:spcPct val="100000"/>
              </a:lnSpc>
            </a:pPr>
            <a:r>
              <a:rPr lang="es-AR" dirty="0"/>
              <a:t>Complejidad crítica: requiere comparar toda la imagen por cada intento de desplazamiento.</a:t>
            </a:r>
          </a:p>
          <a:p>
            <a:pPr>
              <a:lnSpc>
                <a:spcPct val="100000"/>
              </a:lnSpc>
            </a:pPr>
            <a:r>
              <a:rPr lang="es-AR" dirty="0"/>
              <a:t>Match: Identifica el mínimo error local (vector 40,10).</a:t>
            </a:r>
          </a:p>
          <a:p>
            <a:pPr>
              <a:lnSpc>
                <a:spcPct val="100000"/>
              </a:lnSpc>
            </a:pPr>
            <a:r>
              <a:rPr lang="es-AR" dirty="0"/>
              <a:t>Costo computacional: Inviable para imágenes de alta resolución.</a:t>
            </a:r>
          </a:p>
          <a:p>
            <a:pPr>
              <a:lnSpc>
                <a:spcPct val="100000"/>
              </a:lnSpc>
            </a:pPr>
            <a:r>
              <a:rPr lang="es-AR" dirty="0"/>
              <a:t>Conclusión: Valida el resultado, pero resalta la superioridad de la FFT.</a:t>
            </a:r>
          </a:p>
        </p:txBody>
      </p:sp>
    </p:spTree>
    <p:extLst>
      <p:ext uri="{BB962C8B-B14F-4D97-AF65-F5344CB8AC3E}">
        <p14:creationId xmlns:p14="http://schemas.microsoft.com/office/powerpoint/2010/main" val="1875946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3E83E-CF77-FE4F-A0F1-707B200BC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Inciso 2: Registro de Rotación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F7E65-03D7-D0EC-3508-8304E4A42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s-AR" dirty="0"/>
              <a:t>Mapeo Polar (ρ, θ)</a:t>
            </a:r>
          </a:p>
          <a:p>
            <a:pPr lvl="1">
              <a:lnSpc>
                <a:spcPct val="150000"/>
              </a:lnSpc>
            </a:pPr>
            <a:r>
              <a:rPr lang="es-AR" dirty="0"/>
              <a:t>La rotación espacial se traduce en un desplazamiento lineal en el eje θ del espectro polar.</a:t>
            </a:r>
          </a:p>
          <a:p>
            <a:pPr lvl="2">
              <a:lnSpc>
                <a:spcPct val="150000"/>
              </a:lnSpc>
            </a:pPr>
            <a:r>
              <a:rPr lang="es-AR" dirty="0"/>
              <a:t>Conversión de coordenadas cartesianas a polares.</a:t>
            </a:r>
          </a:p>
          <a:p>
            <a:pPr lvl="2">
              <a:lnSpc>
                <a:spcPct val="150000"/>
              </a:lnSpc>
            </a:pPr>
            <a:r>
              <a:rPr lang="es-AR" dirty="0"/>
              <a:t>Promediado de magnitudes espectrales.</a:t>
            </a:r>
          </a:p>
          <a:p>
            <a:pPr lvl="2">
              <a:lnSpc>
                <a:spcPct val="150000"/>
              </a:lnSpc>
            </a:pPr>
            <a:r>
              <a:rPr lang="es-AR" dirty="0"/>
              <a:t>Resultado: Rotación de 35°.</a:t>
            </a:r>
          </a:p>
          <a:p>
            <a:pPr lvl="1">
              <a:lnSpc>
                <a:spcPct val="150000"/>
              </a:lnSpc>
            </a:pPr>
            <a:r>
              <a:rPr lang="es-AR" dirty="0"/>
              <a:t>Validado mediante rotación sintética de f3 para comprobar que coincide con f4.</a:t>
            </a:r>
          </a:p>
        </p:txBody>
      </p:sp>
    </p:spTree>
    <p:extLst>
      <p:ext uri="{BB962C8B-B14F-4D97-AF65-F5344CB8AC3E}">
        <p14:creationId xmlns:p14="http://schemas.microsoft.com/office/powerpoint/2010/main" val="2937276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46EC3-0B4E-30AA-54D3-038F0C988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Inciso 3: Registro de Escalamiento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CB1D6F-467D-68B6-3905-49DE5BD486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2398"/>
                <a:ext cx="10515600" cy="5535602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AR" dirty="0"/>
                  <a:t>Coordenadas Log-Polares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AR" dirty="0"/>
                  <a:t>El cambio de escala en el espectro se transforma en un desplazamiento lineal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A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A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s-A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A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s-A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func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A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A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s-A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func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s-AR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  <a:p>
                <a:pPr>
                  <a:lnSpc>
                    <a:spcPct val="120000"/>
                  </a:lnSpc>
                </a:pPr>
                <a:r>
                  <a:rPr lang="es-AR" dirty="0"/>
                  <a:t>Cálculo del Factor de escala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AR" dirty="0"/>
                  <a:t>Se implementó un algoritmo aplicando correlación de fase directamente sobre el mapa log-polar.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AR" dirty="0"/>
                  <a:t>Resultado obtenido: Desplazamiento lineal equivalente a un factor k ≈ 1,2935.</a:t>
                </a:r>
              </a:p>
              <a:p>
                <a:pPr>
                  <a:lnSpc>
                    <a:spcPct val="120000"/>
                  </a:lnSpc>
                </a:pPr>
                <a:r>
                  <a:rPr lang="es-AR" dirty="0"/>
                  <a:t>Validación del algoritmo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AR" dirty="0"/>
                  <a:t>Se creó un programa de comprobación que multiplica las coordenadas polares por el factor k  (</a:t>
                </a:r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AR" dirty="0"/>
                  <a:t>).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AR" dirty="0"/>
                  <a:t>Al escalar la imagen 1 con k=1,2935 se generó una imagen idéntica a la imagen 5, confirmando la precisión del modelo.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CB1D6F-467D-68B6-3905-49DE5BD486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2398"/>
                <a:ext cx="10515600" cy="5535602"/>
              </a:xfrm>
              <a:blipFill>
                <a:blip r:embed="rId2"/>
                <a:stretch>
                  <a:fillRect l="-928" t="-55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8671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1C95D-D4E2-091A-15E0-54453D59F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Inciso 4: Coherencia de fase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211CC9-4A0C-0D12-C251-EEC1F66294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0656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AR" dirty="0"/>
                  <a:t>Búsqueda del factor K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AR" dirty="0"/>
                  <a:t>Reconstruimos la imagen combinando magnitud de f6 y fase de f7 mediante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i="1">
                          <a:latin typeface="Cambria Math" panose="02040503050406030204" pitchFamily="18" charset="0"/>
                        </a:rPr>
                        <m:t>𝐸𝑠𝑝𝑒𝑐𝑡𝑟𝑜</m:t>
                      </m:r>
                      <m:r>
                        <a:rPr lang="es-A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i="1">
                          <a:latin typeface="Cambria Math" panose="02040503050406030204" pitchFamily="18" charset="0"/>
                        </a:rPr>
                        <m:t>𝑀𝑎𝑔</m:t>
                      </m:r>
                      <m:r>
                        <a:rPr lang="es-AR" i="1">
                          <a:latin typeface="Cambria Math" panose="02040503050406030204" pitchFamily="18" charset="0"/>
                        </a:rPr>
                        <m:t> ∙</m:t>
                      </m:r>
                      <m:r>
                        <m:rPr>
                          <m:sty m:val="p"/>
                        </m:rPr>
                        <a:rPr lang="es-AR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𝑓𝑎𝑠𝑒</m:t>
                      </m:r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  <a:p>
                <a:pPr marL="457200" lvl="1" indent="0">
                  <a:lnSpc>
                    <a:spcPct val="150000"/>
                  </a:lnSpc>
                  <a:buNone/>
                </a:pPr>
                <a:endParaRPr lang="es-AR" dirty="0"/>
              </a:p>
              <a:p>
                <a:pPr lvl="1">
                  <a:lnSpc>
                    <a:spcPct val="150000"/>
                  </a:lnSpc>
                </a:pPr>
                <a:r>
                  <a:rPr lang="es-AR" dirty="0"/>
                  <a:t>Métrica de nitidez: Magnitud del gradiente espacial.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AR" dirty="0"/>
                  <a:t>Búsqueda automática del k óptimo que maximiza bordes definidos.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211CC9-4A0C-0D12-C251-EEC1F66294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0656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6326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94408-4068-37C7-3D18-48DDB688D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Resultados: TIF vs JPG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D51CC-F300-8EEB-3349-3C76FA989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s-AR" dirty="0"/>
              <a:t>Formato JPG</a:t>
            </a:r>
          </a:p>
          <a:p>
            <a:pPr lvl="1">
              <a:lnSpc>
                <a:spcPct val="150000"/>
              </a:lnSpc>
            </a:pPr>
            <a:r>
              <a:rPr lang="es-AR" dirty="0"/>
              <a:t>La compresión recorta frecuencias altas, afectando agresivamente la fase. Menor nitidez máxima.</a:t>
            </a:r>
          </a:p>
          <a:p>
            <a:pPr>
              <a:lnSpc>
                <a:spcPct val="150000"/>
              </a:lnSpc>
            </a:pPr>
            <a:r>
              <a:rPr lang="es-AR" dirty="0"/>
              <a:t>Formato TIF</a:t>
            </a:r>
          </a:p>
          <a:p>
            <a:pPr lvl="1">
              <a:lnSpc>
                <a:spcPct val="150000"/>
              </a:lnSpc>
            </a:pPr>
            <a:r>
              <a:rPr lang="es-AR" dirty="0"/>
              <a:t>Sin pérdida. Información matemática intacta, resultado en </a:t>
            </a:r>
            <a:r>
              <a:rPr lang="es-AR" dirty="0" err="1"/>
              <a:t>nitides</a:t>
            </a:r>
            <a:r>
              <a:rPr lang="es-AR" dirty="0"/>
              <a:t> superior y k predecible.</a:t>
            </a:r>
          </a:p>
        </p:txBody>
      </p:sp>
    </p:spTree>
    <p:extLst>
      <p:ext uri="{BB962C8B-B14F-4D97-AF65-F5344CB8AC3E}">
        <p14:creationId xmlns:p14="http://schemas.microsoft.com/office/powerpoint/2010/main" val="3741810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7603D-F1DD-FE71-E889-AEA3AD7F8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Conclusiones finales: Estructura vs. Energía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784D8-0BE7-B592-4443-302E9A51F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0872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AR" dirty="0"/>
              <a:t>Confirmamos que la fase define la estructura de la imagen, mientras que la magnitud define su energía espectral.</a:t>
            </a:r>
          </a:p>
          <a:p>
            <a:pPr>
              <a:lnSpc>
                <a:spcPct val="150000"/>
              </a:lnSpc>
            </a:pPr>
            <a:r>
              <a:rPr lang="es-AR" dirty="0"/>
              <a:t>Robustez</a:t>
            </a:r>
          </a:p>
          <a:p>
            <a:pPr lvl="1">
              <a:lnSpc>
                <a:spcPct val="150000"/>
              </a:lnSpc>
            </a:pPr>
            <a:r>
              <a:rPr lang="es-AR" dirty="0"/>
              <a:t>La fase contiene la estructura esencial de la imagen, siendo más crítica que la magnitud para el reconocimiento.</a:t>
            </a:r>
          </a:p>
          <a:p>
            <a:pPr>
              <a:lnSpc>
                <a:spcPct val="150000"/>
              </a:lnSpc>
            </a:pPr>
            <a:r>
              <a:rPr lang="es-AR" dirty="0"/>
              <a:t>Eficiencia</a:t>
            </a:r>
          </a:p>
          <a:p>
            <a:pPr lvl="1">
              <a:lnSpc>
                <a:spcPct val="150000"/>
              </a:lnSpc>
            </a:pPr>
            <a:r>
              <a:rPr lang="es-AR" dirty="0"/>
              <a:t>Las propiedades de Fourier permiten resolver registros complejos (rotación/zoom) como simples traslaciones lineales.</a:t>
            </a:r>
          </a:p>
        </p:txBody>
      </p:sp>
    </p:spTree>
    <p:extLst>
      <p:ext uri="{BB962C8B-B14F-4D97-AF65-F5344CB8AC3E}">
        <p14:creationId xmlns:p14="http://schemas.microsoft.com/office/powerpoint/2010/main" val="3945829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595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DM Sans</vt:lpstr>
      <vt:lpstr>Office Theme</vt:lpstr>
      <vt:lpstr>Trabajo práctico 2: Registro de Imágenes y Análisis de Fase en el Dominio de la Frecuencia</vt:lpstr>
      <vt:lpstr>Introducción y Objetivos</vt:lpstr>
      <vt:lpstr>Inciso 1: Estimación de Traslación</vt:lpstr>
      <vt:lpstr>Invariancia de Magnitud</vt:lpstr>
      <vt:lpstr>Exploración de “Fuerza Bruta”</vt:lpstr>
      <vt:lpstr>Inciso 2: Registro de Rotación</vt:lpstr>
      <vt:lpstr>Inciso 3: Registro de Escalamiento</vt:lpstr>
      <vt:lpstr>Inciso 4: Coherencia de fase</vt:lpstr>
      <vt:lpstr>Resultados: TIF vs JPG</vt:lpstr>
      <vt:lpstr>Conclusiones finales: Estructura vs. Energía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Mauricio Nicolas Acosta</dc:creator>
  <cp:lastModifiedBy>Mauricio Nicolas Acosta</cp:lastModifiedBy>
  <cp:revision>2</cp:revision>
  <dcterms:created xsi:type="dcterms:W3CDTF">2026-06-02T23:21:40Z</dcterms:created>
  <dcterms:modified xsi:type="dcterms:W3CDTF">2026-06-04T01:00:48Z</dcterms:modified>
</cp:coreProperties>
</file>