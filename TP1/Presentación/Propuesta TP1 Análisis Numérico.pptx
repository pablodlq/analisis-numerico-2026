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3" r:id="rId5"/>
    <p:sldId id="269" r:id="rId6"/>
    <p:sldId id="270" r:id="rId7"/>
    <p:sldId id="259" r:id="rId8"/>
    <p:sldId id="260" r:id="rId9"/>
    <p:sldId id="261" r:id="rId10"/>
    <p:sldId id="266" r:id="rId11"/>
    <p:sldId id="262" r:id="rId12"/>
    <p:sldId id="267" r:id="rId13"/>
    <p:sldId id="268" r:id="rId14"/>
    <p:sldId id="271" r:id="rId15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1" autoAdjust="0"/>
    <p:restoredTop sz="94664" autoAdjust="0"/>
  </p:normalViewPr>
  <p:slideViewPr>
    <p:cSldViewPr snapToGrid="0">
      <p:cViewPr varScale="1">
        <p:scale>
          <a:sx n="109" d="100"/>
          <a:sy n="109" d="100"/>
        </p:scale>
        <p:origin x="498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703E-2764-4B99-99D4-7641188959DA}" type="datetimeFigureOut">
              <a:rPr lang="es-AR" smtClean="0"/>
              <a:t>23/4/2026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E3905-90AD-42E2-9F49-40185DA8763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34636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703E-2764-4B99-99D4-7641188959DA}" type="datetimeFigureOut">
              <a:rPr lang="es-AR" smtClean="0"/>
              <a:t>23/4/2026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E3905-90AD-42E2-9F49-40185DA8763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23052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703E-2764-4B99-99D4-7641188959DA}" type="datetimeFigureOut">
              <a:rPr lang="es-AR" smtClean="0"/>
              <a:t>23/4/2026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E3905-90AD-42E2-9F49-40185DA8763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14868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703E-2764-4B99-99D4-7641188959DA}" type="datetimeFigureOut">
              <a:rPr lang="es-AR" smtClean="0"/>
              <a:t>23/4/2026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E3905-90AD-42E2-9F49-40185DA8763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69544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703E-2764-4B99-99D4-7641188959DA}" type="datetimeFigureOut">
              <a:rPr lang="es-AR" smtClean="0"/>
              <a:t>23/4/2026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E3905-90AD-42E2-9F49-40185DA8763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1471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703E-2764-4B99-99D4-7641188959DA}" type="datetimeFigureOut">
              <a:rPr lang="es-AR" smtClean="0"/>
              <a:t>23/4/2026</a:t>
            </a:fld>
            <a:endParaRPr lang="es-A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E3905-90AD-42E2-9F49-40185DA8763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25180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703E-2764-4B99-99D4-7641188959DA}" type="datetimeFigureOut">
              <a:rPr lang="es-AR" smtClean="0"/>
              <a:t>23/4/2026</a:t>
            </a:fld>
            <a:endParaRPr lang="es-A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E3905-90AD-42E2-9F49-40185DA8763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51103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703E-2764-4B99-99D4-7641188959DA}" type="datetimeFigureOut">
              <a:rPr lang="es-AR" smtClean="0"/>
              <a:t>23/4/2026</a:t>
            </a:fld>
            <a:endParaRPr lang="es-A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E3905-90AD-42E2-9F49-40185DA8763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4883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703E-2764-4B99-99D4-7641188959DA}" type="datetimeFigureOut">
              <a:rPr lang="es-AR" smtClean="0"/>
              <a:t>23/4/2026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E3905-90AD-42E2-9F49-40185DA8763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9051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703E-2764-4B99-99D4-7641188959DA}" type="datetimeFigureOut">
              <a:rPr lang="es-AR" smtClean="0"/>
              <a:t>23/4/2026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E3905-90AD-42E2-9F49-40185DA8763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74483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703E-2764-4B99-99D4-7641188959DA}" type="datetimeFigureOut">
              <a:rPr lang="es-AR" smtClean="0"/>
              <a:t>23/4/2026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E3905-90AD-42E2-9F49-40185DA8763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985915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703E-2764-4B99-99D4-7641188959DA}" type="datetimeFigureOut">
              <a:rPr lang="es-AR" smtClean="0"/>
              <a:t>23/4/2026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E3905-90AD-42E2-9F49-40185DA87635}" type="slidenum">
              <a:rPr lang="es-AR" smtClean="0"/>
              <a:t>‹Nº›</a:t>
            </a:fld>
            <a:endParaRPr lang="es-A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971928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703E-2764-4B99-99D4-7641188959DA}" type="datetimeFigureOut">
              <a:rPr lang="es-AR" smtClean="0"/>
              <a:t>23/4/2026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E3905-90AD-42E2-9F49-40185DA8763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048010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703E-2764-4B99-99D4-7641188959DA}" type="datetimeFigureOut">
              <a:rPr lang="es-AR" smtClean="0"/>
              <a:t>23/4/2026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E3905-90AD-42E2-9F49-40185DA8763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741543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703E-2764-4B99-99D4-7641188959DA}" type="datetimeFigureOut">
              <a:rPr lang="es-AR" smtClean="0"/>
              <a:t>23/4/2026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E3905-90AD-42E2-9F49-40185DA8763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746557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703E-2764-4B99-99D4-7641188959DA}" type="datetimeFigureOut">
              <a:rPr lang="es-AR" smtClean="0"/>
              <a:t>23/4/2026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E3905-90AD-42E2-9F49-40185DA8763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83838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703E-2764-4B99-99D4-7641188959DA}" type="datetimeFigureOut">
              <a:rPr lang="es-AR" smtClean="0"/>
              <a:t>23/4/2026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E3905-90AD-42E2-9F49-40185DA8763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19715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FB0703E-2764-4B99-99D4-7641188959DA}" type="datetimeFigureOut">
              <a:rPr lang="es-AR" smtClean="0"/>
              <a:t>23/4/2026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8E3905-90AD-42E2-9F49-40185DA8763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563577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DF544-5A4C-8195-AFAB-61EF0E25D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8770" y="199171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s-AR" dirty="0"/>
              <a:t>Trabajo práctico 1:</a:t>
            </a:r>
            <a:br>
              <a:rPr lang="es-AR" dirty="0"/>
            </a:br>
            <a:r>
              <a:rPr lang="es-AR" sz="4400" dirty="0"/>
              <a:t>Estimación de velocidad mediante análisis espectral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94A903-0078-21C1-2539-0F063950CB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8770" y="4610324"/>
            <a:ext cx="8825658" cy="1641006"/>
          </a:xfrm>
        </p:spPr>
        <p:txBody>
          <a:bodyPr>
            <a:normAutofit lnSpcReduction="10000"/>
          </a:bodyPr>
          <a:lstStyle/>
          <a:p>
            <a:r>
              <a:rPr lang="es-AR" sz="1600" dirty="0"/>
              <a:t>Asignatura: Análisis Numérico</a:t>
            </a:r>
          </a:p>
          <a:p>
            <a:r>
              <a:rPr lang="es-AR" sz="1600" dirty="0"/>
              <a:t>Integrantes: Mauricio Acosta, Federico </a:t>
            </a:r>
            <a:r>
              <a:rPr lang="es-AR" sz="1600" dirty="0" err="1"/>
              <a:t>Bleuel</a:t>
            </a:r>
            <a:r>
              <a:rPr lang="es-AR" sz="1600" dirty="0"/>
              <a:t>, Marcos </a:t>
            </a:r>
            <a:r>
              <a:rPr lang="es-AR" sz="1600" dirty="0" err="1"/>
              <a:t>Bude</a:t>
            </a:r>
            <a:r>
              <a:rPr lang="es-AR" sz="1600" dirty="0"/>
              <a:t>, Pablo </a:t>
            </a:r>
            <a:r>
              <a:rPr lang="es-AR" sz="1600" dirty="0" err="1"/>
              <a:t>Dellacqua</a:t>
            </a:r>
            <a:endParaRPr lang="es-AR" sz="1600" dirty="0"/>
          </a:p>
          <a:p>
            <a:r>
              <a:rPr lang="es-AR" sz="1600" dirty="0"/>
              <a:t>UTN </a:t>
            </a:r>
            <a:r>
              <a:rPr lang="es-AR" sz="1600" dirty="0" smtClean="0"/>
              <a:t>– FRSF</a:t>
            </a:r>
          </a:p>
          <a:p>
            <a:r>
              <a:rPr lang="es-AR" sz="1600" dirty="0" smtClean="0"/>
              <a:t>2026</a:t>
            </a:r>
            <a:endParaRPr lang="es-AR" sz="1600" dirty="0" smtClean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630769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7623B-4377-4471-04A1-2B3863EBD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Introducción y Objetivos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B0ABF-060B-B95E-11F0-48F018086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Objetivo principal: Determinar la velocidad de desplazamiento de ambulancias mediante procesamiento digital de señales.</a:t>
            </a:r>
          </a:p>
          <a:p>
            <a:r>
              <a:rPr lang="es-AR" dirty="0"/>
              <a:t>Condiciones: Grabaciones con ruido proveniente del entorno urbano.</a:t>
            </a:r>
          </a:p>
          <a:p>
            <a:r>
              <a:rPr lang="es-AR" dirty="0" smtClean="0"/>
              <a:t>Escenarios a analizar:</a:t>
            </a:r>
          </a:p>
          <a:p>
            <a:pPr lvl="1"/>
            <a:r>
              <a:rPr lang="es-AR" dirty="0" smtClean="0"/>
              <a:t>Sirena 1: Frecuencia constante.</a:t>
            </a:r>
          </a:p>
          <a:p>
            <a:pPr lvl="1"/>
            <a:r>
              <a:rPr lang="es-AR" dirty="0" smtClean="0"/>
              <a:t>Sirena 2: Frecuencia variable.</a:t>
            </a:r>
          </a:p>
          <a:p>
            <a:r>
              <a:rPr lang="es-AR" dirty="0" smtClean="0"/>
              <a:t>Herramientas</a:t>
            </a:r>
            <a:r>
              <a:rPr lang="es-AR" dirty="0"/>
              <a:t>: </a:t>
            </a:r>
            <a:r>
              <a:rPr lang="es-AR" dirty="0" smtClean="0"/>
              <a:t>Python con librerías varias (</a:t>
            </a:r>
            <a:r>
              <a:rPr lang="es-AR" dirty="0" err="1" smtClean="0"/>
              <a:t>numpy</a:t>
            </a:r>
            <a:r>
              <a:rPr lang="es-AR" dirty="0" smtClean="0"/>
              <a:t>, </a:t>
            </a:r>
            <a:r>
              <a:rPr lang="es-AR" dirty="0" err="1" smtClean="0"/>
              <a:t>scipy</a:t>
            </a:r>
            <a:r>
              <a:rPr lang="es-AR" dirty="0" smtClean="0"/>
              <a:t>, </a:t>
            </a:r>
            <a:r>
              <a:rPr lang="es-AR" dirty="0" err="1" smtClean="0"/>
              <a:t>matplotlib</a:t>
            </a:r>
            <a:r>
              <a:rPr lang="es-AR" dirty="0" smtClean="0"/>
              <a:t>)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28730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388C2-7660-DE32-DAAA-8FC0C70FF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Inciso 1 – Análisis inicial y filtrado de señales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7F160-31C4-BFD8-21D0-67BF6B783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2044126"/>
            <a:ext cx="4409465" cy="4409427"/>
          </a:xfrm>
        </p:spPr>
        <p:txBody>
          <a:bodyPr/>
          <a:lstStyle/>
          <a:p>
            <a:r>
              <a:rPr lang="es-AR" dirty="0" smtClean="0"/>
              <a:t>Datos encontrados: Frecuencia de muestreo = 44100 Hz.</a:t>
            </a:r>
          </a:p>
          <a:p>
            <a:r>
              <a:rPr lang="es-AR" dirty="0" smtClean="0"/>
              <a:t>Problema</a:t>
            </a:r>
            <a:r>
              <a:rPr lang="es-AR" dirty="0"/>
              <a:t>: Señales extremadamente ruidosas con una relación señal-ruido (SNR) demasiado baja</a:t>
            </a:r>
            <a:r>
              <a:rPr lang="es-AR" dirty="0" smtClean="0"/>
              <a:t>.</a:t>
            </a:r>
            <a:endParaRPr lang="es-AR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CF3D17A-5932-0F97-E14E-1A2FF38EF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5" t="7240" r="7458" b="4988"/>
          <a:stretch>
            <a:fillRect/>
          </a:stretch>
        </p:blipFill>
        <p:spPr bwMode="auto">
          <a:xfrm>
            <a:off x="5055576" y="2044126"/>
            <a:ext cx="6558612" cy="3380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2927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2CF9F-447A-4EE0-80CF-619E569A6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Inciso 1 – Análisis inicial y filtrado de </a:t>
            </a:r>
            <a:r>
              <a:rPr lang="es-AR" dirty="0" smtClean="0"/>
              <a:t>señales</a:t>
            </a:r>
            <a:endParaRPr lang="es-AR" sz="32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A07F160-31C4-BFD8-21D0-67BF6B78314E}"/>
              </a:ext>
            </a:extLst>
          </p:cNvPr>
          <p:cNvSpPr txBox="1">
            <a:spLocks/>
          </p:cNvSpPr>
          <p:nvPr/>
        </p:nvSpPr>
        <p:spPr>
          <a:xfrm>
            <a:off x="646111" y="1853248"/>
            <a:ext cx="9667266" cy="43453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s-AR" dirty="0" smtClean="0"/>
              <a:t>Solución: Aplicación de un filtro digital por </a:t>
            </a:r>
            <a:r>
              <a:rPr lang="es-AR" dirty="0" err="1" smtClean="0"/>
              <a:t>convolución</a:t>
            </a:r>
            <a:r>
              <a:rPr lang="es-AR" dirty="0" smtClean="0"/>
              <a:t> tipo Paso-Banda.</a:t>
            </a:r>
          </a:p>
          <a:p>
            <a:r>
              <a:rPr lang="es-AR" dirty="0" smtClean="0"/>
              <a:t>Problema: Encontrar las frecuencias de corte para cada sirena.</a:t>
            </a:r>
            <a:endParaRPr lang="es-AR" dirty="0"/>
          </a:p>
        </p:txBody>
      </p:sp>
      <p:pic>
        <p:nvPicPr>
          <p:cNvPr id="7" name="Marcador de contenido 6"/>
          <p:cNvPicPr>
            <a:picLocks noGrp="1" noChangeAspect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0" y="3135479"/>
            <a:ext cx="5244735" cy="1429173"/>
          </a:xfr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1416" y="3135433"/>
            <a:ext cx="5294147" cy="142921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A07F160-31C4-BFD8-21D0-67BF6B78314E}"/>
              </a:ext>
            </a:extLst>
          </p:cNvPr>
          <p:cNvSpPr txBox="1">
            <a:spLocks/>
          </p:cNvSpPr>
          <p:nvPr/>
        </p:nvSpPr>
        <p:spPr>
          <a:xfrm>
            <a:off x="646110" y="4907110"/>
            <a:ext cx="9974998" cy="1950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s-AR" dirty="0" smtClean="0"/>
              <a:t>Datos aproximados de frecuencias de corte:</a:t>
            </a:r>
          </a:p>
          <a:p>
            <a:pPr lvl="1"/>
            <a:r>
              <a:rPr lang="es-AR" dirty="0" smtClean="0"/>
              <a:t>Sirena 1: 940 Hz – 1050Hz</a:t>
            </a:r>
          </a:p>
          <a:p>
            <a:pPr lvl="1"/>
            <a:r>
              <a:rPr lang="es-AR" dirty="0" smtClean="0"/>
              <a:t>Sirena 2: 600Hz </a:t>
            </a:r>
            <a:r>
              <a:rPr lang="es-AR" dirty="0"/>
              <a:t>–</a:t>
            </a:r>
            <a:r>
              <a:rPr lang="es-AR" dirty="0" smtClean="0"/>
              <a:t> 1500Hz. </a:t>
            </a:r>
          </a:p>
          <a:p>
            <a:pPr>
              <a:buFont typeface="Arial" panose="020B0604020202020204" pitchFamily="34" charset="0"/>
              <a:buChar char="•"/>
            </a:pPr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1775120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4A2CF9F-447A-4EE0-80CF-619E569A6B25}"/>
              </a:ext>
            </a:extLst>
          </p:cNvPr>
          <p:cNvSpPr txBox="1">
            <a:spLocks/>
          </p:cNvSpPr>
          <p:nvPr/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dirty="0" smtClean="0"/>
              <a:t>Inciso 1 – Análisis inicial y filtrado de señales</a:t>
            </a:r>
            <a:endParaRPr lang="es-AR" sz="32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A07F160-31C4-BFD8-21D0-67BF6B78314E}"/>
              </a:ext>
            </a:extLst>
          </p:cNvPr>
          <p:cNvSpPr txBox="1">
            <a:spLocks/>
          </p:cNvSpPr>
          <p:nvPr/>
        </p:nvSpPr>
        <p:spPr>
          <a:xfrm>
            <a:off x="646111" y="1853248"/>
            <a:ext cx="9667266" cy="43453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s-AR" dirty="0" smtClean="0"/>
              <a:t>Sirenas filtradas: Sirena 1</a:t>
            </a:r>
            <a:endParaRPr lang="es-AR" dirty="0"/>
          </a:p>
        </p:txBody>
      </p:sp>
      <p:pic>
        <p:nvPicPr>
          <p:cNvPr id="9" name="Imagen 8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226"/>
          <a:stretch>
            <a:fillRect/>
          </a:stretch>
        </p:blipFill>
        <p:spPr bwMode="auto">
          <a:xfrm>
            <a:off x="646111" y="2658502"/>
            <a:ext cx="10572874" cy="289647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98857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4A2CF9F-447A-4EE0-80CF-619E569A6B25}"/>
              </a:ext>
            </a:extLst>
          </p:cNvPr>
          <p:cNvSpPr txBox="1">
            <a:spLocks/>
          </p:cNvSpPr>
          <p:nvPr/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dirty="0" smtClean="0"/>
              <a:t>Inciso 1 – Análisis inicial y filtrado de señales</a:t>
            </a:r>
            <a:endParaRPr lang="es-AR" sz="32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A07F160-31C4-BFD8-21D0-67BF6B78314E}"/>
              </a:ext>
            </a:extLst>
          </p:cNvPr>
          <p:cNvSpPr txBox="1">
            <a:spLocks/>
          </p:cNvSpPr>
          <p:nvPr/>
        </p:nvSpPr>
        <p:spPr>
          <a:xfrm>
            <a:off x="646111" y="1853248"/>
            <a:ext cx="9667266" cy="43453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s-AR" dirty="0" smtClean="0"/>
              <a:t>Sirenas filtradas: Sirena 2</a:t>
            </a:r>
            <a:endParaRPr lang="es-AR" dirty="0"/>
          </a:p>
        </p:txBody>
      </p:sp>
      <p:pic>
        <p:nvPicPr>
          <p:cNvPr id="8" name="Imagen 7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422"/>
          <a:stretch>
            <a:fillRect/>
          </a:stretch>
        </p:blipFill>
        <p:spPr bwMode="auto">
          <a:xfrm>
            <a:off x="646111" y="2656529"/>
            <a:ext cx="10572874" cy="287944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A07F160-31C4-BFD8-21D0-67BF6B78314E}"/>
              </a:ext>
            </a:extLst>
          </p:cNvPr>
          <p:cNvSpPr txBox="1">
            <a:spLocks/>
          </p:cNvSpPr>
          <p:nvPr/>
        </p:nvSpPr>
        <p:spPr>
          <a:xfrm>
            <a:off x="646110" y="5742379"/>
            <a:ext cx="11056451" cy="45619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s-AR" sz="1400" dirty="0" smtClean="0"/>
              <a:t>Nota: Esta señal filtrada se ve muy ruidoso igualmente porque el intervalo es mucho más grande, entonces agarra algo de ruido.</a:t>
            </a:r>
            <a:endParaRPr lang="es-AR" sz="1400" dirty="0"/>
          </a:p>
        </p:txBody>
      </p:sp>
    </p:spTree>
    <p:extLst>
      <p:ext uri="{BB962C8B-B14F-4D97-AF65-F5344CB8AC3E}">
        <p14:creationId xmlns:p14="http://schemas.microsoft.com/office/powerpoint/2010/main" val="219287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F3984-19C9-1AE0-8A9C-EBCE4B01C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Inciso</a:t>
            </a:r>
            <a:r>
              <a:rPr lang="en-US" dirty="0"/>
              <a:t> 2 – </a:t>
            </a:r>
            <a:r>
              <a:rPr lang="en-US" dirty="0" err="1"/>
              <a:t>Efecto</a:t>
            </a:r>
            <a:r>
              <a:rPr lang="en-US" dirty="0"/>
              <a:t> Doppler </a:t>
            </a:r>
            <a:r>
              <a:rPr lang="en-US" dirty="0" err="1"/>
              <a:t>en</a:t>
            </a:r>
            <a:r>
              <a:rPr lang="en-US" dirty="0"/>
              <a:t> la Sirena 1</a:t>
            </a:r>
            <a:endParaRPr lang="es-A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36A0C-4BA1-322E-52A6-0173D52D9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</a:t>
            </a:r>
            <a:r>
              <a:rPr lang="es-AR" dirty="0" err="1"/>
              <a:t>álisis</a:t>
            </a:r>
            <a:r>
              <a:rPr lang="es-AR" dirty="0"/>
              <a:t> en ventanas temporales de 0.5 segundos.</a:t>
            </a:r>
          </a:p>
          <a:p>
            <a:r>
              <a:rPr lang="es-AR" dirty="0"/>
              <a:t>Observación: La frecuencia varía según la distancia entre la ambulancia y el micrófono</a:t>
            </a:r>
            <a:r>
              <a:rPr lang="es-AR" dirty="0" smtClean="0"/>
              <a:t>. En este caso se aprecia como </a:t>
            </a:r>
            <a:r>
              <a:rPr lang="es-AR" dirty="0" err="1" smtClean="0"/>
              <a:t>vá</a:t>
            </a:r>
            <a:r>
              <a:rPr lang="es-AR" dirty="0" smtClean="0"/>
              <a:t> disminuyendo la frecuencia cuando pasa el tiempo</a:t>
            </a:r>
            <a:endParaRPr lang="es-AR" dirty="0"/>
          </a:p>
          <a:p>
            <a:pPr lvl="1"/>
            <a:r>
              <a:rPr lang="es-AR" dirty="0"/>
              <a:t>Inicio (acercándose): 1062 Hz.</a:t>
            </a:r>
          </a:p>
          <a:p>
            <a:pPr lvl="1"/>
            <a:r>
              <a:rPr lang="es-AR" dirty="0"/>
              <a:t>Medio (pasando): </a:t>
            </a:r>
            <a:r>
              <a:rPr lang="en-US" dirty="0"/>
              <a:t>~</a:t>
            </a:r>
            <a:r>
              <a:rPr lang="es-AR" dirty="0"/>
              <a:t>966 Hz.</a:t>
            </a:r>
          </a:p>
          <a:p>
            <a:pPr lvl="1"/>
            <a:r>
              <a:rPr lang="es-AR" dirty="0"/>
              <a:t>Final (alejándose): 649 Hz.</a:t>
            </a:r>
          </a:p>
          <a:p>
            <a:r>
              <a:rPr lang="es-AR" dirty="0"/>
              <a:t>Fenómeno físico: Efecto Doppler (cambio en la longitud de onda percibida).</a:t>
            </a:r>
          </a:p>
        </p:txBody>
      </p:sp>
    </p:spTree>
    <p:extLst>
      <p:ext uri="{BB962C8B-B14F-4D97-AF65-F5344CB8AC3E}">
        <p14:creationId xmlns:p14="http://schemas.microsoft.com/office/powerpoint/2010/main" val="3223202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C4EBF-BB09-B432-FEB0-B7FE3B625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Inciso 2 – Cálculo de velocidad (sirena 1)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08B410-DB27-A2B1-344C-4ABCE3EB55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AR" dirty="0"/>
                  <a:t>Uso de la fórmula matemática del efecto Doppler: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AR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±</m:t>
                              </m:r>
                              <m:sSub>
                                <m:sSub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±</m:t>
                              </m:r>
                              <m:sSub>
                                <m:sSub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s-AR" sz="2400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s-AR" sz="2400" dirty="0"/>
              </a:p>
              <a:p>
                <a:r>
                  <a:rPr lang="es-AR" dirty="0"/>
                  <a:t>Frecuencia </a:t>
                </a:r>
                <a:r>
                  <a:rPr lang="es-AR" dirty="0" smtClean="0"/>
                  <a:t>original. </a:t>
                </a:r>
                <a:r>
                  <a:rPr lang="es-AR" dirty="0"/>
                  <a:t>Estimada promediando las frecuencias pico.</a:t>
                </a:r>
              </a:p>
              <a:p>
                <a:r>
                  <a:rPr lang="es-AR" dirty="0"/>
                  <a:t>Promedio de velocidades calculadas al acercarse y alejarse.</a:t>
                </a:r>
              </a:p>
              <a:p>
                <a:r>
                  <a:rPr lang="es-AR" dirty="0"/>
                  <a:t>Resultado final: </a:t>
                </a:r>
                <a14:m>
                  <m:oMath xmlns:m="http://schemas.openxmlformats.org/officeDocument/2006/math">
                    <m:r>
                      <a:rPr lang="es-AR" b="0" i="1" smtClean="0">
                        <a:latin typeface="Cambria Math" panose="02040503050406030204" pitchFamily="18" charset="0"/>
                      </a:rPr>
                      <m:t>𝑉𝑒𝑙𝑜𝑐𝑖𝑑𝑎𝑑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𝑒𝑠𝑡𝑖𝑚𝑎𝑑𝑎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=67,42 </m:t>
                    </m:r>
                    <m:f>
                      <m:f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𝑘𝑚</m:t>
                        </m:r>
                      </m:num>
                      <m:den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r>
                      <a:rPr lang="es-AR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18,73 </m:t>
                        </m:r>
                        <m:f>
                          <m:fPr>
                            <m:ctrlPr>
                              <a:rPr lang="es-A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</m:e>
                    </m:d>
                    <m:r>
                      <a:rPr lang="es-AR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s-AR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08B410-DB27-A2B1-344C-4ABCE3EB55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41" t="-87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6010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DE05E-B64B-5372-E4D4-EC7386381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67266" cy="1400530"/>
          </a:xfrm>
        </p:spPr>
        <p:txBody>
          <a:bodyPr/>
          <a:lstStyle/>
          <a:p>
            <a:r>
              <a:rPr lang="es-AR" dirty="0"/>
              <a:t>Inciso 3 – Dificultades con la sirena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5A9D1-686C-C69B-106E-CDF0E2524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Sirena de banda más alta y variación mucho mayor (entre 600 Hz y 1500 Hz).</a:t>
            </a:r>
          </a:p>
          <a:p>
            <a:r>
              <a:rPr lang="es-AR" dirty="0"/>
              <a:t>Variación inconsistente: Imposibilita el uso de la fórmula para frecuencia constante</a:t>
            </a:r>
            <a:r>
              <a:rPr lang="es-AR" dirty="0" smtClean="0"/>
              <a:t>.</a:t>
            </a:r>
          </a:p>
          <a:p>
            <a:r>
              <a:rPr lang="es-AR" dirty="0" smtClean="0"/>
              <a:t>Problema principal: No tenemos manera de saber la frecuencia real en cada instante de la sirena.</a:t>
            </a:r>
          </a:p>
          <a:p>
            <a:r>
              <a:rPr lang="es-AR" dirty="0" smtClean="0"/>
              <a:t>Consecuencia: No se puede calcular la velocidad con efecto </a:t>
            </a:r>
            <a:r>
              <a:rPr lang="es-AR" dirty="0" err="1" smtClean="0"/>
              <a:t>Doppler</a:t>
            </a:r>
            <a:r>
              <a:rPr lang="es-AR" dirty="0" smtClean="0"/>
              <a:t>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279475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D68F6-FD46-4B81-9644-27A1422DD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Inciso </a:t>
            </a:r>
            <a:r>
              <a:rPr lang="es-AR" dirty="0"/>
              <a:t>3 </a:t>
            </a:r>
            <a:r>
              <a:rPr lang="es-AR" dirty="0" smtClean="0"/>
              <a:t>– Análisis </a:t>
            </a:r>
            <a:r>
              <a:rPr lang="es-AR" dirty="0" err="1" smtClean="0"/>
              <a:t>fft</a:t>
            </a:r>
            <a:r>
              <a:rPr lang="es-AR" dirty="0" smtClean="0"/>
              <a:t> de tiempo</a:t>
            </a:r>
            <a:endParaRPr lang="es-A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4EFBB-3FA8-B6DD-D414-DE2AF80A5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595718"/>
            <a:ext cx="5024927" cy="4704150"/>
          </a:xfrm>
        </p:spPr>
        <p:txBody>
          <a:bodyPr/>
          <a:lstStyle/>
          <a:p>
            <a:r>
              <a:rPr lang="es-AR" dirty="0" smtClean="0"/>
              <a:t>Se aprecia como la frecuencia de la sirena 2 va variando con respecto al tiempo subiendo y bajando, a diferencia de la sirena 1 que cuando pasaba el tiempo disminuía la frecuencia recibida.</a:t>
            </a:r>
            <a:endParaRPr lang="es-AR" dirty="0"/>
          </a:p>
        </p:txBody>
      </p:sp>
      <p:pic>
        <p:nvPicPr>
          <p:cNvPr id="4" name="Imagen 8">
            <a:extLst>
              <a:ext uri="{FF2B5EF4-FFF2-40B4-BE49-F238E27FC236}">
                <a16:creationId xmlns:a16="http://schemas.microsoft.com/office/drawing/2014/main" id="{128392FE-5502-5847-8F8D-2608BB1642B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1037" y="1595718"/>
            <a:ext cx="5666813" cy="47041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1560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1C45C-06AB-30FC-04E8-FBDDACA31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853248"/>
            <a:ext cx="4805119" cy="4195481"/>
          </a:xfrm>
        </p:spPr>
        <p:txBody>
          <a:bodyPr>
            <a:normAutofit/>
          </a:bodyPr>
          <a:lstStyle/>
          <a:p>
            <a:r>
              <a:rPr lang="es-AR" dirty="0"/>
              <a:t>Generación de espectrogramas en distintas ventanas.</a:t>
            </a:r>
          </a:p>
          <a:p>
            <a:r>
              <a:rPr lang="es-AR" dirty="0"/>
              <a:t>Mejor resolución visual: Intervalos de 0,1 segundos.</a:t>
            </a:r>
          </a:p>
          <a:p>
            <a:r>
              <a:rPr lang="es-AR" dirty="0"/>
              <a:t>Análisis visual: Oscilación alrededor de los 1000 Hz.</a:t>
            </a:r>
          </a:p>
          <a:p>
            <a:r>
              <a:rPr lang="es-AR" dirty="0"/>
              <a:t>Instante del </a:t>
            </a:r>
            <a:r>
              <a:rPr lang="es-AR" dirty="0" smtClean="0"/>
              <a:t>cruce (estimado): </a:t>
            </a:r>
            <a:r>
              <a:rPr lang="es-AR" dirty="0"/>
              <a:t>La ambulancia pasa al frente del micrófono en el instante (3,8-3,9) </a:t>
            </a:r>
            <a:r>
              <a:rPr lang="es-AR" dirty="0" smtClean="0"/>
              <a:t>s.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F6DE05E-B64B-5372-E4D4-EC7386381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67266" cy="1400530"/>
          </a:xfrm>
        </p:spPr>
        <p:txBody>
          <a:bodyPr/>
          <a:lstStyle/>
          <a:p>
            <a:r>
              <a:rPr lang="es-AR" dirty="0"/>
              <a:t>Inciso </a:t>
            </a:r>
            <a:r>
              <a:rPr lang="es-AR" dirty="0" smtClean="0"/>
              <a:t>4 </a:t>
            </a:r>
            <a:r>
              <a:rPr lang="es-AR" dirty="0"/>
              <a:t>– </a:t>
            </a:r>
            <a:r>
              <a:rPr lang="es-AR" dirty="0" smtClean="0"/>
              <a:t>Espectrograma sirena 2</a:t>
            </a:r>
            <a:endParaRPr lang="es-AR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230" y="1853248"/>
            <a:ext cx="6033883" cy="3725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023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9">
            <a:extLst>
              <a:ext uri="{FF2B5EF4-FFF2-40B4-BE49-F238E27FC236}">
                <a16:creationId xmlns:a16="http://schemas.microsoft.com/office/drawing/2014/main" id="{25CE3155-7744-BE01-4B33-486879B058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6528" y="2447038"/>
            <a:ext cx="7201024" cy="394911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F6DE05E-B64B-5372-E4D4-EC7386381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67266" cy="1400530"/>
          </a:xfrm>
        </p:spPr>
        <p:txBody>
          <a:bodyPr/>
          <a:lstStyle/>
          <a:p>
            <a:r>
              <a:rPr lang="es-AR" dirty="0"/>
              <a:t>Inciso </a:t>
            </a:r>
            <a:r>
              <a:rPr lang="es-AR" dirty="0" smtClean="0"/>
              <a:t>4 </a:t>
            </a:r>
            <a:r>
              <a:rPr lang="es-AR" dirty="0"/>
              <a:t>– </a:t>
            </a:r>
            <a:r>
              <a:rPr lang="es-AR" dirty="0" smtClean="0"/>
              <a:t>Espectrograma sirena 2</a:t>
            </a:r>
            <a:endParaRPr lang="es-AR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061C45C-06AB-30FC-04E8-FBDDACA31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824942"/>
            <a:ext cx="10361858" cy="4195481"/>
          </a:xfrm>
        </p:spPr>
        <p:txBody>
          <a:bodyPr>
            <a:normAutofit/>
          </a:bodyPr>
          <a:lstStyle/>
          <a:p>
            <a:r>
              <a:rPr lang="es-AR" dirty="0" smtClean="0"/>
              <a:t>Espectrograma sirena 1 con estimación de la frecuencia real de la sirena.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081368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0904932B-2D6F-2E5C-E2A9-E0AFE63EC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0" y="1853247"/>
            <a:ext cx="8687665" cy="3202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F6DE05E-B64B-5372-E4D4-EC7386381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67266" cy="1400530"/>
          </a:xfrm>
        </p:spPr>
        <p:txBody>
          <a:bodyPr/>
          <a:lstStyle/>
          <a:p>
            <a:r>
              <a:rPr lang="es-AR" dirty="0"/>
              <a:t>Inciso </a:t>
            </a:r>
            <a:r>
              <a:rPr lang="es-AR" dirty="0" smtClean="0"/>
              <a:t>4 </a:t>
            </a:r>
            <a:r>
              <a:rPr lang="es-AR" dirty="0"/>
              <a:t>– </a:t>
            </a:r>
            <a:r>
              <a:rPr lang="es-AR" dirty="0" smtClean="0"/>
              <a:t>Velocidad sirena 2</a:t>
            </a:r>
            <a:endParaRPr lang="es-AR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061C45C-06AB-30FC-04E8-FBDDACA31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5262736"/>
            <a:ext cx="10361858" cy="505020"/>
          </a:xfrm>
        </p:spPr>
        <p:txBody>
          <a:bodyPr>
            <a:normAutofit/>
          </a:bodyPr>
          <a:lstStyle/>
          <a:p>
            <a:r>
              <a:rPr lang="es-AR" dirty="0" smtClean="0"/>
              <a:t>Velocidad estimada para la sirena 2 es de 119.56 km/h (33,21 m/s)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796816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F6DE05E-B64B-5372-E4D4-EC7386381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67266" cy="1400530"/>
          </a:xfrm>
        </p:spPr>
        <p:txBody>
          <a:bodyPr/>
          <a:lstStyle/>
          <a:p>
            <a:r>
              <a:rPr lang="es-AR" dirty="0"/>
              <a:t>Inciso </a:t>
            </a:r>
            <a:r>
              <a:rPr lang="es-AR" dirty="0" smtClean="0"/>
              <a:t>5 </a:t>
            </a:r>
            <a:r>
              <a:rPr lang="es-AR" dirty="0"/>
              <a:t>– </a:t>
            </a:r>
            <a:r>
              <a:rPr lang="es-AR" dirty="0" smtClean="0"/>
              <a:t>Estimación de movimiento de la ambulancia.</a:t>
            </a:r>
            <a:endParaRPr lang="es-AR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061C45C-06AB-30FC-04E8-FBDDACA31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0" y="2000789"/>
            <a:ext cx="4310393" cy="4094964"/>
          </a:xfrm>
        </p:spPr>
        <p:txBody>
          <a:bodyPr>
            <a:normAutofit/>
          </a:bodyPr>
          <a:lstStyle/>
          <a:p>
            <a:r>
              <a:rPr lang="es-AR" dirty="0" smtClean="0"/>
              <a:t>Como indicamos anteriormente por el comportamiento del espectrograma tomamos que la frecuencia que tenia cuando pasaba es de aproximadamente 1000Hz y es en el instante 3,8/3,9s.</a:t>
            </a:r>
            <a:endParaRPr lang="es-AR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6503" y="2000789"/>
            <a:ext cx="6631760" cy="4094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835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357</TotalTime>
  <Words>566</Words>
  <Application>Microsoft Office PowerPoint</Application>
  <PresentationFormat>Panorámica</PresentationFormat>
  <Paragraphs>57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Cambria Math</vt:lpstr>
      <vt:lpstr>Century Gothic</vt:lpstr>
      <vt:lpstr>Wingdings 3</vt:lpstr>
      <vt:lpstr>Ion</vt:lpstr>
      <vt:lpstr>Trabajo práctico 1: Estimación de velocidad mediante análisis espectral</vt:lpstr>
      <vt:lpstr>Introducción y Objetivos</vt:lpstr>
      <vt:lpstr>Inciso 1 – Análisis inicial y filtrado de señales</vt:lpstr>
      <vt:lpstr>Inciso 1 – Análisis inicial y filtrado de señales</vt:lpstr>
      <vt:lpstr>Presentación de PowerPoint</vt:lpstr>
      <vt:lpstr>Presentación de PowerPoint</vt:lpstr>
      <vt:lpstr>Inciso 2 – Efecto Doppler en la Sirena 1</vt:lpstr>
      <vt:lpstr>Inciso 2 – Cálculo de velocidad (sirena 1)</vt:lpstr>
      <vt:lpstr>Inciso 3 – Dificultades con la sirena 2</vt:lpstr>
      <vt:lpstr>Inciso 3 – Análisis fft de tiempo</vt:lpstr>
      <vt:lpstr>Inciso 4 – Espectrograma sirena 2</vt:lpstr>
      <vt:lpstr>Inciso 4 – Espectrograma sirena 2</vt:lpstr>
      <vt:lpstr>Inciso 4 – Velocidad sirena 2</vt:lpstr>
      <vt:lpstr>Inciso 5 – Estimación de movimiento de la ambulancia.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Trabajo práctico 1: Estimación de velocidad mediante análisis espectral</dc:title>
  <dc:creator>Mauricio Nicolas Acosta</dc:creator>
  <cp:lastModifiedBy>Pablo</cp:lastModifiedBy>
  <cp:revision>41</cp:revision>
  <dcterms:created xsi:type="dcterms:W3CDTF">2026-04-21T23:14:16Z</dcterms:created>
  <dcterms:modified xsi:type="dcterms:W3CDTF">2026-04-23T15:06:18Z</dcterms:modified>
</cp:coreProperties>
</file>